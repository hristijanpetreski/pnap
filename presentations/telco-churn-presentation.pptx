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" name="Rectangle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2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82125" y="1219200"/>
            <a:ext cx="876300" cy="876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372725" y="1933575"/>
            <a:ext cx="666750" cy="6667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" name="Group"/>
          <p:cNvGrpSpPr/>
          <p:nvPr/>
        </p:nvGrpSpPr>
        <p:grpSpPr>
          <a:xfrm>
            <a:off x="838200" y="1666875"/>
            <a:ext cx="7715250" cy="1619250"/>
            <a:chOff x="0" y="0"/>
            <a:chExt cx="7715250" cy="1619250"/>
          </a:xfrm>
        </p:grpSpPr>
        <p:sp>
          <p:nvSpPr>
            <p:cNvPr id="24" name="Rectangle"/>
            <p:cNvSpPr/>
            <p:nvPr/>
          </p:nvSpPr>
          <p:spPr>
            <a:xfrm>
              <a:off x="0" y="0"/>
              <a:ext cx="7715250" cy="16192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30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" name="Customer Churn Prediction in the Telecommunications Industry"/>
            <p:cNvSpPr txBox="1"/>
            <p:nvPr/>
          </p:nvSpPr>
          <p:spPr>
            <a:xfrm>
              <a:off x="0" y="0"/>
              <a:ext cx="5244958" cy="1282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330200" dist="59220" dir="2081584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30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Customer Churn Prediction in the Telecommunications Industry</a:t>
              </a:r>
            </a:p>
          </p:txBody>
        </p:sp>
      </p:grpSp>
      <p:grpSp>
        <p:nvGrpSpPr>
          <p:cNvPr id="29" name="Group"/>
          <p:cNvGrpSpPr/>
          <p:nvPr/>
        </p:nvGrpSpPr>
        <p:grpSpPr>
          <a:xfrm>
            <a:off x="866774" y="3477184"/>
            <a:ext cx="4705886" cy="589432"/>
            <a:chOff x="0" y="0"/>
            <a:chExt cx="4705884" cy="589431"/>
          </a:xfrm>
        </p:grpSpPr>
        <p:sp>
          <p:nvSpPr>
            <p:cNvPr id="27" name="Rectangle"/>
            <p:cNvSpPr/>
            <p:nvPr/>
          </p:nvSpPr>
          <p:spPr>
            <a:xfrm>
              <a:off x="0" y="0"/>
              <a:ext cx="4705885" cy="589432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5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" name="A supervised machine learning workflow for identifying customers with higher churn risk."/>
            <p:cNvSpPr txBox="1"/>
            <p:nvPr/>
          </p:nvSpPr>
          <p:spPr>
            <a:xfrm>
              <a:off x="0" y="0"/>
              <a:ext cx="4705885" cy="4247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609600" dist="0" dir="20815840">
                <a:srgbClr val="000000">
                  <a:alpha val="86025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sz="1500">
                  <a:solidFill>
                    <a:srgbClr val="E19E5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supervised machine learning workflow for identifying customers with higher churn risk.</a:t>
              </a:r>
            </a:p>
          </p:txBody>
        </p:sp>
      </p:grpSp>
      <p:sp>
        <p:nvSpPr>
          <p:cNvPr id="30" name="Group"/>
          <p:cNvSpPr txBox="1"/>
          <p:nvPr/>
        </p:nvSpPr>
        <p:spPr>
          <a:xfrm>
            <a:off x="866775" y="4565284"/>
            <a:ext cx="4190732" cy="14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defRPr b="1" sz="14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Hristijan Petreski</a:t>
            </a:r>
          </a:p>
          <a:p>
            <a:pPr>
              <a:defRPr sz="12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Faculty of Electrical Engineering and Information Technologies</a:t>
            </a:r>
          </a:p>
          <a:p>
            <a:pPr>
              <a:defRPr sz="12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12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May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" name="Rectangle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6" name="Group"/>
          <p:cNvGrpSpPr/>
          <p:nvPr/>
        </p:nvGrpSpPr>
        <p:grpSpPr>
          <a:xfrm>
            <a:off x="609600" y="342900"/>
            <a:ext cx="8001000" cy="533400"/>
            <a:chOff x="0" y="0"/>
            <a:chExt cx="8001000" cy="533400"/>
          </a:xfrm>
        </p:grpSpPr>
        <p:sp>
          <p:nvSpPr>
            <p:cNvPr id="34" name="Rectangle"/>
            <p:cNvSpPr/>
            <p:nvPr/>
          </p:nvSpPr>
          <p:spPr>
            <a:xfrm>
              <a:off x="0" y="0"/>
              <a:ext cx="80010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9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" name="Why churn prediction matters"/>
            <p:cNvSpPr txBox="1"/>
            <p:nvPr/>
          </p:nvSpPr>
          <p:spPr>
            <a:xfrm>
              <a:off x="0" y="0"/>
              <a:ext cx="8001000" cy="2715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9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Why churn prediction matters</a:t>
              </a:r>
            </a:p>
          </p:txBody>
        </p:sp>
      </p:grpSp>
      <p:grpSp>
        <p:nvGrpSpPr>
          <p:cNvPr id="39" name="Group"/>
          <p:cNvGrpSpPr/>
          <p:nvPr/>
        </p:nvGrpSpPr>
        <p:grpSpPr>
          <a:xfrm>
            <a:off x="8686800" y="6334125"/>
            <a:ext cx="2857500" cy="228600"/>
            <a:chOff x="0" y="0"/>
            <a:chExt cx="2857500" cy="228600"/>
          </a:xfrm>
        </p:grpSpPr>
        <p:sp>
          <p:nvSpPr>
            <p:cNvPr id="37" name="Rectangle"/>
            <p:cNvSpPr/>
            <p:nvPr/>
          </p:nvSpPr>
          <p:spPr>
            <a:xfrm>
              <a:off x="0" y="0"/>
              <a:ext cx="28575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" name="Customer churn prediction | 02"/>
            <p:cNvSpPr txBox="1"/>
            <p:nvPr/>
          </p:nvSpPr>
          <p:spPr>
            <a:xfrm>
              <a:off x="0" y="0"/>
              <a:ext cx="28575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Customer churn prediction | 02</a:t>
              </a:r>
            </a:p>
          </p:txBody>
        </p:sp>
      </p:grpSp>
      <p:grpSp>
        <p:nvGrpSpPr>
          <p:cNvPr id="42" name="Group"/>
          <p:cNvGrpSpPr/>
          <p:nvPr/>
        </p:nvGrpSpPr>
        <p:grpSpPr>
          <a:xfrm>
            <a:off x="628650" y="1123950"/>
            <a:ext cx="7239000" cy="685800"/>
            <a:chOff x="0" y="0"/>
            <a:chExt cx="7239000" cy="685800"/>
          </a:xfrm>
        </p:grpSpPr>
        <p:sp>
          <p:nvSpPr>
            <p:cNvPr id="40" name="Rectangle"/>
            <p:cNvSpPr/>
            <p:nvPr/>
          </p:nvSpPr>
          <p:spPr>
            <a:xfrm>
              <a:off x="0" y="0"/>
              <a:ext cx="7239000" cy="6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7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" name="The useful model is not simply the most accurate one. It is the one that helps retention teams find customers before they leave."/>
            <p:cNvSpPr txBox="1"/>
            <p:nvPr/>
          </p:nvSpPr>
          <p:spPr>
            <a:xfrm>
              <a:off x="0" y="0"/>
              <a:ext cx="7239000" cy="5009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7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useful model is not simply the most accurate one. It is the one that helps retention teams find customers before they leave.</a:t>
              </a:r>
            </a:p>
          </p:txBody>
        </p:sp>
      </p:grpSp>
      <p:sp>
        <p:nvSpPr>
          <p:cNvPr id="43" name="Rectangle"/>
          <p:cNvSpPr/>
          <p:nvPr/>
        </p:nvSpPr>
        <p:spPr>
          <a:xfrm>
            <a:off x="647700" y="2181225"/>
            <a:ext cx="4857750" cy="314325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6" name="Group"/>
          <p:cNvGrpSpPr/>
          <p:nvPr/>
        </p:nvGrpSpPr>
        <p:grpSpPr>
          <a:xfrm>
            <a:off x="933450" y="2457450"/>
            <a:ext cx="3048000" cy="323850"/>
            <a:chOff x="0" y="0"/>
            <a:chExt cx="3048000" cy="323850"/>
          </a:xfrm>
        </p:grpSpPr>
        <p:sp>
          <p:nvSpPr>
            <p:cNvPr id="44" name="Rectangle"/>
            <p:cNvSpPr/>
            <p:nvPr/>
          </p:nvSpPr>
          <p:spPr>
            <a:xfrm>
              <a:off x="0" y="0"/>
              <a:ext cx="30480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5" name="Business framing"/>
            <p:cNvSpPr txBox="1"/>
            <p:nvPr/>
          </p:nvSpPr>
          <p:spPr>
            <a:xfrm>
              <a:off x="0" y="0"/>
              <a:ext cx="3048000" cy="2592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Business framing</a:t>
              </a:r>
            </a:p>
          </p:txBody>
        </p:sp>
      </p:grpSp>
      <p:sp>
        <p:nvSpPr>
          <p:cNvPr id="47" name="Circle"/>
          <p:cNvSpPr/>
          <p:nvPr/>
        </p:nvSpPr>
        <p:spPr>
          <a:xfrm>
            <a:off x="952500" y="3114675"/>
            <a:ext cx="85726" cy="85726"/>
          </a:xfrm>
          <a:prstGeom prst="ellipse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50" name="Group"/>
          <p:cNvGrpSpPr/>
          <p:nvPr/>
        </p:nvGrpSpPr>
        <p:grpSpPr>
          <a:xfrm>
            <a:off x="1181100" y="3028950"/>
            <a:ext cx="3905250" cy="400050"/>
            <a:chOff x="0" y="0"/>
            <a:chExt cx="3905250" cy="400050"/>
          </a:xfrm>
        </p:grpSpPr>
        <p:sp>
          <p:nvSpPr>
            <p:cNvPr id="48" name="Rectangle"/>
            <p:cNvSpPr/>
            <p:nvPr/>
          </p:nvSpPr>
          <p:spPr>
            <a:xfrm>
              <a:off x="0" y="0"/>
              <a:ext cx="39052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" name="Churn causes direct revenue loss."/>
            <p:cNvSpPr txBox="1"/>
            <p:nvPr/>
          </p:nvSpPr>
          <p:spPr>
            <a:xfrm>
              <a:off x="0" y="0"/>
              <a:ext cx="39052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Churn causes direct revenue loss.</a:t>
              </a:r>
            </a:p>
          </p:txBody>
        </p:sp>
      </p:grpSp>
      <p:sp>
        <p:nvSpPr>
          <p:cNvPr id="51" name="Circle"/>
          <p:cNvSpPr/>
          <p:nvPr/>
        </p:nvSpPr>
        <p:spPr>
          <a:xfrm>
            <a:off x="952500" y="3629025"/>
            <a:ext cx="85726" cy="85726"/>
          </a:xfrm>
          <a:prstGeom prst="ellipse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54" name="Group"/>
          <p:cNvGrpSpPr/>
          <p:nvPr/>
        </p:nvGrpSpPr>
        <p:grpSpPr>
          <a:xfrm>
            <a:off x="1181100" y="3543300"/>
            <a:ext cx="3905250" cy="400050"/>
            <a:chOff x="0" y="0"/>
            <a:chExt cx="3905250" cy="400050"/>
          </a:xfrm>
        </p:grpSpPr>
        <p:sp>
          <p:nvSpPr>
            <p:cNvPr id="52" name="Rectangle"/>
            <p:cNvSpPr/>
            <p:nvPr/>
          </p:nvSpPr>
          <p:spPr>
            <a:xfrm>
              <a:off x="0" y="0"/>
              <a:ext cx="39052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" name="Existing customers are usually cheaper to retain."/>
            <p:cNvSpPr txBox="1"/>
            <p:nvPr/>
          </p:nvSpPr>
          <p:spPr>
            <a:xfrm>
              <a:off x="0" y="0"/>
              <a:ext cx="39052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Existing customers are usually cheaper to retain.</a:t>
              </a:r>
            </a:p>
          </p:txBody>
        </p:sp>
      </p:grpSp>
      <p:sp>
        <p:nvSpPr>
          <p:cNvPr id="55" name="Circle"/>
          <p:cNvSpPr/>
          <p:nvPr/>
        </p:nvSpPr>
        <p:spPr>
          <a:xfrm>
            <a:off x="952500" y="4143375"/>
            <a:ext cx="85726" cy="85726"/>
          </a:xfrm>
          <a:prstGeom prst="ellipse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58" name="Group"/>
          <p:cNvGrpSpPr/>
          <p:nvPr/>
        </p:nvGrpSpPr>
        <p:grpSpPr>
          <a:xfrm>
            <a:off x="1181100" y="4057650"/>
            <a:ext cx="3905250" cy="400050"/>
            <a:chOff x="0" y="0"/>
            <a:chExt cx="3905250" cy="400050"/>
          </a:xfrm>
        </p:grpSpPr>
        <p:sp>
          <p:nvSpPr>
            <p:cNvPr id="56" name="Rectangle"/>
            <p:cNvSpPr/>
            <p:nvPr/>
          </p:nvSpPr>
          <p:spPr>
            <a:xfrm>
              <a:off x="0" y="0"/>
              <a:ext cx="39052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" name="Retention actions must be prioritized."/>
            <p:cNvSpPr txBox="1"/>
            <p:nvPr/>
          </p:nvSpPr>
          <p:spPr>
            <a:xfrm>
              <a:off x="0" y="0"/>
              <a:ext cx="39052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Retention actions must be prioritized.</a:t>
              </a:r>
            </a:p>
          </p:txBody>
        </p:sp>
      </p:grpSp>
      <p:sp>
        <p:nvSpPr>
          <p:cNvPr id="59" name="Rectangle"/>
          <p:cNvSpPr/>
          <p:nvPr/>
        </p:nvSpPr>
        <p:spPr>
          <a:xfrm>
            <a:off x="6238875" y="2181225"/>
            <a:ext cx="4857750" cy="314325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62" name="Group"/>
          <p:cNvGrpSpPr/>
          <p:nvPr/>
        </p:nvGrpSpPr>
        <p:grpSpPr>
          <a:xfrm>
            <a:off x="6524625" y="2457450"/>
            <a:ext cx="3333750" cy="323850"/>
            <a:chOff x="0" y="0"/>
            <a:chExt cx="3333750" cy="323850"/>
          </a:xfrm>
        </p:grpSpPr>
        <p:sp>
          <p:nvSpPr>
            <p:cNvPr id="60" name="Rectangle"/>
            <p:cNvSpPr/>
            <p:nvPr/>
          </p:nvSpPr>
          <p:spPr>
            <a:xfrm>
              <a:off x="0" y="0"/>
              <a:ext cx="33337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1" name="Modeling implication"/>
            <p:cNvSpPr txBox="1"/>
            <p:nvPr/>
          </p:nvSpPr>
          <p:spPr>
            <a:xfrm>
              <a:off x="0" y="0"/>
              <a:ext cx="3333750" cy="2592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Modeling implication</a:t>
              </a:r>
            </a:p>
          </p:txBody>
        </p:sp>
      </p:grpSp>
      <p:sp>
        <p:nvSpPr>
          <p:cNvPr id="63" name="Circle"/>
          <p:cNvSpPr/>
          <p:nvPr/>
        </p:nvSpPr>
        <p:spPr>
          <a:xfrm>
            <a:off x="6543675" y="3114675"/>
            <a:ext cx="85726" cy="85726"/>
          </a:xfrm>
          <a:prstGeom prst="ellipse">
            <a:avLst/>
          </a:prstGeom>
          <a:solidFill>
            <a:srgbClr val="C4453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66" name="Group"/>
          <p:cNvGrpSpPr/>
          <p:nvPr/>
        </p:nvGrpSpPr>
        <p:grpSpPr>
          <a:xfrm>
            <a:off x="6772275" y="3028950"/>
            <a:ext cx="3905250" cy="400050"/>
            <a:chOff x="0" y="0"/>
            <a:chExt cx="3905250" cy="400050"/>
          </a:xfrm>
        </p:grpSpPr>
        <p:sp>
          <p:nvSpPr>
            <p:cNvPr id="64" name="Rectangle"/>
            <p:cNvSpPr/>
            <p:nvPr/>
          </p:nvSpPr>
          <p:spPr>
            <a:xfrm>
              <a:off x="0" y="0"/>
              <a:ext cx="39052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5" name="Churn is the minority class."/>
            <p:cNvSpPr txBox="1"/>
            <p:nvPr/>
          </p:nvSpPr>
          <p:spPr>
            <a:xfrm>
              <a:off x="0" y="0"/>
              <a:ext cx="39052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Churn is the minority class.</a:t>
              </a:r>
            </a:p>
          </p:txBody>
        </p:sp>
      </p:grpSp>
      <p:sp>
        <p:nvSpPr>
          <p:cNvPr id="67" name="Circle"/>
          <p:cNvSpPr/>
          <p:nvPr/>
        </p:nvSpPr>
        <p:spPr>
          <a:xfrm>
            <a:off x="6543675" y="3629025"/>
            <a:ext cx="85726" cy="85726"/>
          </a:xfrm>
          <a:prstGeom prst="ellipse">
            <a:avLst/>
          </a:prstGeom>
          <a:solidFill>
            <a:srgbClr val="C4453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70" name="Group"/>
          <p:cNvGrpSpPr/>
          <p:nvPr/>
        </p:nvGrpSpPr>
        <p:grpSpPr>
          <a:xfrm>
            <a:off x="6772275" y="3543300"/>
            <a:ext cx="3905250" cy="400050"/>
            <a:chOff x="0" y="0"/>
            <a:chExt cx="3905250" cy="400050"/>
          </a:xfrm>
        </p:grpSpPr>
        <p:sp>
          <p:nvSpPr>
            <p:cNvPr id="68" name="Rectangle"/>
            <p:cNvSpPr/>
            <p:nvPr/>
          </p:nvSpPr>
          <p:spPr>
            <a:xfrm>
              <a:off x="0" y="0"/>
              <a:ext cx="39052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9" name="False negatives are costly."/>
            <p:cNvSpPr txBox="1"/>
            <p:nvPr/>
          </p:nvSpPr>
          <p:spPr>
            <a:xfrm>
              <a:off x="0" y="0"/>
              <a:ext cx="39052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False negatives are costly.</a:t>
              </a:r>
            </a:p>
          </p:txBody>
        </p:sp>
      </p:grpSp>
      <p:sp>
        <p:nvSpPr>
          <p:cNvPr id="71" name="Circle"/>
          <p:cNvSpPr/>
          <p:nvPr/>
        </p:nvSpPr>
        <p:spPr>
          <a:xfrm>
            <a:off x="6543675" y="4143375"/>
            <a:ext cx="85726" cy="85726"/>
          </a:xfrm>
          <a:prstGeom prst="ellipse">
            <a:avLst/>
          </a:prstGeom>
          <a:solidFill>
            <a:srgbClr val="C4453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74" name="Group"/>
          <p:cNvGrpSpPr/>
          <p:nvPr/>
        </p:nvGrpSpPr>
        <p:grpSpPr>
          <a:xfrm>
            <a:off x="6772275" y="4057650"/>
            <a:ext cx="3905250" cy="400050"/>
            <a:chOff x="0" y="0"/>
            <a:chExt cx="3905250" cy="400050"/>
          </a:xfrm>
        </p:grpSpPr>
        <p:sp>
          <p:nvSpPr>
            <p:cNvPr id="72" name="Rectangle"/>
            <p:cNvSpPr/>
            <p:nvPr/>
          </p:nvSpPr>
          <p:spPr>
            <a:xfrm>
              <a:off x="0" y="0"/>
              <a:ext cx="39052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3" name="Recall and F1 matter alongside accuracy."/>
            <p:cNvSpPr txBox="1"/>
            <p:nvPr/>
          </p:nvSpPr>
          <p:spPr>
            <a:xfrm>
              <a:off x="0" y="0"/>
              <a:ext cx="39052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Recall and F1 matter alongside accuracy.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7" name="Rectangle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80" name="Group"/>
          <p:cNvGrpSpPr/>
          <p:nvPr/>
        </p:nvGrpSpPr>
        <p:grpSpPr>
          <a:xfrm>
            <a:off x="609600" y="342900"/>
            <a:ext cx="8001000" cy="533400"/>
            <a:chOff x="0" y="0"/>
            <a:chExt cx="8001000" cy="533400"/>
          </a:xfrm>
        </p:grpSpPr>
        <p:sp>
          <p:nvSpPr>
            <p:cNvPr id="78" name="Rectangle"/>
            <p:cNvSpPr/>
            <p:nvPr/>
          </p:nvSpPr>
          <p:spPr>
            <a:xfrm>
              <a:off x="0" y="0"/>
              <a:ext cx="80010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9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9" name="Dataset and target"/>
            <p:cNvSpPr txBox="1"/>
            <p:nvPr/>
          </p:nvSpPr>
          <p:spPr>
            <a:xfrm>
              <a:off x="0" y="0"/>
              <a:ext cx="8001000" cy="2715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9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Dataset and target</a:t>
              </a:r>
            </a:p>
          </p:txBody>
        </p:sp>
      </p:grpSp>
      <p:grpSp>
        <p:nvGrpSpPr>
          <p:cNvPr id="83" name="Group"/>
          <p:cNvGrpSpPr/>
          <p:nvPr/>
        </p:nvGrpSpPr>
        <p:grpSpPr>
          <a:xfrm>
            <a:off x="8686800" y="6334125"/>
            <a:ext cx="2857500" cy="228600"/>
            <a:chOff x="0" y="0"/>
            <a:chExt cx="2857500" cy="228600"/>
          </a:xfrm>
        </p:grpSpPr>
        <p:sp>
          <p:nvSpPr>
            <p:cNvPr id="81" name="Rectangle"/>
            <p:cNvSpPr/>
            <p:nvPr/>
          </p:nvSpPr>
          <p:spPr>
            <a:xfrm>
              <a:off x="0" y="0"/>
              <a:ext cx="28575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2" name="Customer churn prediction | 03"/>
            <p:cNvSpPr txBox="1"/>
            <p:nvPr/>
          </p:nvSpPr>
          <p:spPr>
            <a:xfrm>
              <a:off x="0" y="0"/>
              <a:ext cx="28575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Customer churn prediction | 03</a:t>
              </a:r>
            </a:p>
          </p:txBody>
        </p:sp>
      </p:grpSp>
      <p:grpSp>
        <p:nvGrpSpPr>
          <p:cNvPr id="86" name="Group"/>
          <p:cNvGrpSpPr/>
          <p:nvPr/>
        </p:nvGrpSpPr>
        <p:grpSpPr>
          <a:xfrm>
            <a:off x="609600" y="1028700"/>
            <a:ext cx="5334000" cy="438150"/>
            <a:chOff x="0" y="0"/>
            <a:chExt cx="5334000" cy="438150"/>
          </a:xfrm>
        </p:grpSpPr>
        <p:sp>
          <p:nvSpPr>
            <p:cNvPr id="84" name="Rectangle"/>
            <p:cNvSpPr/>
            <p:nvPr/>
          </p:nvSpPr>
          <p:spPr>
            <a:xfrm>
              <a:off x="0" y="0"/>
              <a:ext cx="5334000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5" name="Telco Customer Churn dataset after cleaning"/>
            <p:cNvSpPr txBox="1"/>
            <p:nvPr/>
          </p:nvSpPr>
          <p:spPr>
            <a:xfrm>
              <a:off x="0" y="0"/>
              <a:ext cx="5334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Telco Customer Churn dataset after cleaning</a:t>
              </a:r>
            </a:p>
          </p:txBody>
        </p:sp>
      </p:grpSp>
      <p:sp>
        <p:nvSpPr>
          <p:cNvPr id="87" name="Rectangle"/>
          <p:cNvSpPr/>
          <p:nvPr/>
        </p:nvSpPr>
        <p:spPr>
          <a:xfrm>
            <a:off x="628650" y="1762125"/>
            <a:ext cx="1695450" cy="9144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90" name="Group"/>
          <p:cNvGrpSpPr/>
          <p:nvPr/>
        </p:nvGrpSpPr>
        <p:grpSpPr>
          <a:xfrm>
            <a:off x="781050" y="1914525"/>
            <a:ext cx="1390650" cy="361950"/>
            <a:chOff x="0" y="0"/>
            <a:chExt cx="1390650" cy="361950"/>
          </a:xfrm>
        </p:grpSpPr>
        <p:sp>
          <p:nvSpPr>
            <p:cNvPr id="88" name="Rectangle"/>
            <p:cNvSpPr/>
            <p:nvPr/>
          </p:nvSpPr>
          <p:spPr>
            <a:xfrm>
              <a:off x="0" y="0"/>
              <a:ext cx="13906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1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9" name="7,043"/>
            <p:cNvSpPr txBox="1"/>
            <p:nvPr/>
          </p:nvSpPr>
          <p:spPr>
            <a:xfrm>
              <a:off x="0" y="0"/>
              <a:ext cx="1390650" cy="296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1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7,043</a:t>
              </a:r>
            </a:p>
          </p:txBody>
        </p:sp>
      </p:grpSp>
      <p:grpSp>
        <p:nvGrpSpPr>
          <p:cNvPr id="93" name="Group"/>
          <p:cNvGrpSpPr/>
          <p:nvPr/>
        </p:nvGrpSpPr>
        <p:grpSpPr>
          <a:xfrm>
            <a:off x="781050" y="2314575"/>
            <a:ext cx="1390650" cy="247650"/>
            <a:chOff x="0" y="0"/>
            <a:chExt cx="1390650" cy="247650"/>
          </a:xfrm>
        </p:grpSpPr>
        <p:sp>
          <p:nvSpPr>
            <p:cNvPr id="91" name="Rectangle"/>
            <p:cNvSpPr/>
            <p:nvPr/>
          </p:nvSpPr>
          <p:spPr>
            <a:xfrm>
              <a:off x="0" y="0"/>
              <a:ext cx="13906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2" name="original observations"/>
            <p:cNvSpPr txBox="1"/>
            <p:nvPr/>
          </p:nvSpPr>
          <p:spPr>
            <a:xfrm>
              <a:off x="0" y="0"/>
              <a:ext cx="13906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original observations</a:t>
              </a:r>
            </a:p>
          </p:txBody>
        </p:sp>
      </p:grpSp>
      <p:sp>
        <p:nvSpPr>
          <p:cNvPr id="94" name="Rectangle"/>
          <p:cNvSpPr/>
          <p:nvPr/>
        </p:nvSpPr>
        <p:spPr>
          <a:xfrm>
            <a:off x="2552700" y="1762125"/>
            <a:ext cx="1695450" cy="9144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97" name="Group"/>
          <p:cNvGrpSpPr/>
          <p:nvPr/>
        </p:nvGrpSpPr>
        <p:grpSpPr>
          <a:xfrm>
            <a:off x="2705100" y="1914525"/>
            <a:ext cx="1390650" cy="361950"/>
            <a:chOff x="0" y="0"/>
            <a:chExt cx="1390650" cy="361950"/>
          </a:xfrm>
        </p:grpSpPr>
        <p:sp>
          <p:nvSpPr>
            <p:cNvPr id="95" name="Rectangle"/>
            <p:cNvSpPr/>
            <p:nvPr/>
          </p:nvSpPr>
          <p:spPr>
            <a:xfrm>
              <a:off x="0" y="0"/>
              <a:ext cx="13906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100">
                  <a:solidFill>
                    <a:srgbClr val="2A9D8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6" name="7,032"/>
            <p:cNvSpPr txBox="1"/>
            <p:nvPr/>
          </p:nvSpPr>
          <p:spPr>
            <a:xfrm>
              <a:off x="0" y="0"/>
              <a:ext cx="1390650" cy="296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100">
                  <a:solidFill>
                    <a:srgbClr val="2A9D8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7,032</a:t>
              </a:r>
            </a:p>
          </p:txBody>
        </p:sp>
      </p:grpSp>
      <p:grpSp>
        <p:nvGrpSpPr>
          <p:cNvPr id="100" name="Group"/>
          <p:cNvGrpSpPr/>
          <p:nvPr/>
        </p:nvGrpSpPr>
        <p:grpSpPr>
          <a:xfrm>
            <a:off x="2705100" y="2314575"/>
            <a:ext cx="1390650" cy="247650"/>
            <a:chOff x="0" y="0"/>
            <a:chExt cx="1390650" cy="247650"/>
          </a:xfrm>
        </p:grpSpPr>
        <p:sp>
          <p:nvSpPr>
            <p:cNvPr id="98" name="Rectangle"/>
            <p:cNvSpPr/>
            <p:nvPr/>
          </p:nvSpPr>
          <p:spPr>
            <a:xfrm>
              <a:off x="0" y="0"/>
              <a:ext cx="13906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" name="cleaned observations"/>
            <p:cNvSpPr txBox="1"/>
            <p:nvPr/>
          </p:nvSpPr>
          <p:spPr>
            <a:xfrm>
              <a:off x="0" y="0"/>
              <a:ext cx="13906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cleaned observations</a:t>
              </a:r>
            </a:p>
          </p:txBody>
        </p:sp>
      </p:grpSp>
      <p:sp>
        <p:nvSpPr>
          <p:cNvPr id="101" name="Rectangle"/>
          <p:cNvSpPr/>
          <p:nvPr/>
        </p:nvSpPr>
        <p:spPr>
          <a:xfrm>
            <a:off x="4476750" y="1762125"/>
            <a:ext cx="1695450" cy="9144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04" name="Group"/>
          <p:cNvGrpSpPr/>
          <p:nvPr/>
        </p:nvGrpSpPr>
        <p:grpSpPr>
          <a:xfrm>
            <a:off x="4629150" y="1914525"/>
            <a:ext cx="1390650" cy="361950"/>
            <a:chOff x="0" y="0"/>
            <a:chExt cx="1390650" cy="361950"/>
          </a:xfrm>
        </p:grpSpPr>
        <p:sp>
          <p:nvSpPr>
            <p:cNvPr id="102" name="Rectangle"/>
            <p:cNvSpPr/>
            <p:nvPr/>
          </p:nvSpPr>
          <p:spPr>
            <a:xfrm>
              <a:off x="0" y="0"/>
              <a:ext cx="13906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1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3" name="11"/>
            <p:cNvSpPr txBox="1"/>
            <p:nvPr/>
          </p:nvSpPr>
          <p:spPr>
            <a:xfrm>
              <a:off x="0" y="0"/>
              <a:ext cx="1390650" cy="296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1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107" name="Group"/>
          <p:cNvGrpSpPr/>
          <p:nvPr/>
        </p:nvGrpSpPr>
        <p:grpSpPr>
          <a:xfrm>
            <a:off x="4629150" y="2314575"/>
            <a:ext cx="1390650" cy="247650"/>
            <a:chOff x="0" y="0"/>
            <a:chExt cx="1390650" cy="247650"/>
          </a:xfrm>
        </p:grpSpPr>
        <p:sp>
          <p:nvSpPr>
            <p:cNvPr id="105" name="Rectangle"/>
            <p:cNvSpPr/>
            <p:nvPr/>
          </p:nvSpPr>
          <p:spPr>
            <a:xfrm>
              <a:off x="0" y="0"/>
              <a:ext cx="13906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6" name="blank TotalCharges rows"/>
            <p:cNvSpPr txBox="1"/>
            <p:nvPr/>
          </p:nvSpPr>
          <p:spPr>
            <a:xfrm>
              <a:off x="0" y="0"/>
              <a:ext cx="13906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blank TotalCharges rows</a:t>
              </a:r>
            </a:p>
          </p:txBody>
        </p:sp>
      </p:grpSp>
      <p:sp>
        <p:nvSpPr>
          <p:cNvPr id="108" name="Rectangle"/>
          <p:cNvSpPr/>
          <p:nvPr/>
        </p:nvSpPr>
        <p:spPr>
          <a:xfrm>
            <a:off x="628650" y="2914650"/>
            <a:ext cx="1695450" cy="9144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11" name="Group"/>
          <p:cNvGrpSpPr/>
          <p:nvPr/>
        </p:nvGrpSpPr>
        <p:grpSpPr>
          <a:xfrm>
            <a:off x="781050" y="3067050"/>
            <a:ext cx="1390650" cy="361950"/>
            <a:chOff x="0" y="0"/>
            <a:chExt cx="1390650" cy="361950"/>
          </a:xfrm>
        </p:grpSpPr>
        <p:sp>
          <p:nvSpPr>
            <p:cNvPr id="109" name="Rectangle"/>
            <p:cNvSpPr/>
            <p:nvPr/>
          </p:nvSpPr>
          <p:spPr>
            <a:xfrm>
              <a:off x="0" y="0"/>
              <a:ext cx="13906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1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0" name="26.58%"/>
            <p:cNvSpPr txBox="1"/>
            <p:nvPr/>
          </p:nvSpPr>
          <p:spPr>
            <a:xfrm>
              <a:off x="0" y="0"/>
              <a:ext cx="1390650" cy="296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1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26.58%</a:t>
              </a:r>
            </a:p>
          </p:txBody>
        </p:sp>
      </p:grpSp>
      <p:grpSp>
        <p:nvGrpSpPr>
          <p:cNvPr id="114" name="Group"/>
          <p:cNvGrpSpPr/>
          <p:nvPr/>
        </p:nvGrpSpPr>
        <p:grpSpPr>
          <a:xfrm>
            <a:off x="781050" y="3467100"/>
            <a:ext cx="1390650" cy="247650"/>
            <a:chOff x="0" y="0"/>
            <a:chExt cx="1390650" cy="247650"/>
          </a:xfrm>
        </p:grpSpPr>
        <p:sp>
          <p:nvSpPr>
            <p:cNvPr id="112" name="Rectangle"/>
            <p:cNvSpPr/>
            <p:nvPr/>
          </p:nvSpPr>
          <p:spPr>
            <a:xfrm>
              <a:off x="0" y="0"/>
              <a:ext cx="13906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3" name="churn rate"/>
            <p:cNvSpPr txBox="1"/>
            <p:nvPr/>
          </p:nvSpPr>
          <p:spPr>
            <a:xfrm>
              <a:off x="0" y="0"/>
              <a:ext cx="13906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churn rate</a:t>
              </a:r>
            </a:p>
          </p:txBody>
        </p:sp>
      </p:grpSp>
      <p:sp>
        <p:nvSpPr>
          <p:cNvPr id="115" name="Rectangle"/>
          <p:cNvSpPr/>
          <p:nvPr/>
        </p:nvSpPr>
        <p:spPr>
          <a:xfrm>
            <a:off x="2552700" y="2914650"/>
            <a:ext cx="1695450" cy="9144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18" name="Group"/>
          <p:cNvGrpSpPr/>
          <p:nvPr/>
        </p:nvGrpSpPr>
        <p:grpSpPr>
          <a:xfrm>
            <a:off x="2705100" y="3067050"/>
            <a:ext cx="1390650" cy="361950"/>
            <a:chOff x="0" y="0"/>
            <a:chExt cx="1390650" cy="361950"/>
          </a:xfrm>
        </p:grpSpPr>
        <p:sp>
          <p:nvSpPr>
            <p:cNvPr id="116" name="Rectangle"/>
            <p:cNvSpPr/>
            <p:nvPr/>
          </p:nvSpPr>
          <p:spPr>
            <a:xfrm>
              <a:off x="0" y="0"/>
              <a:ext cx="13906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1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7" name="21"/>
            <p:cNvSpPr txBox="1"/>
            <p:nvPr/>
          </p:nvSpPr>
          <p:spPr>
            <a:xfrm>
              <a:off x="0" y="0"/>
              <a:ext cx="1390650" cy="296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1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21</a:t>
              </a:r>
            </a:p>
          </p:txBody>
        </p:sp>
      </p:grpSp>
      <p:grpSp>
        <p:nvGrpSpPr>
          <p:cNvPr id="121" name="Group"/>
          <p:cNvGrpSpPr/>
          <p:nvPr/>
        </p:nvGrpSpPr>
        <p:grpSpPr>
          <a:xfrm>
            <a:off x="2705100" y="3467100"/>
            <a:ext cx="1390650" cy="247650"/>
            <a:chOff x="0" y="0"/>
            <a:chExt cx="1390650" cy="247650"/>
          </a:xfrm>
        </p:grpSpPr>
        <p:sp>
          <p:nvSpPr>
            <p:cNvPr id="119" name="Rectangle"/>
            <p:cNvSpPr/>
            <p:nvPr/>
          </p:nvSpPr>
          <p:spPr>
            <a:xfrm>
              <a:off x="0" y="0"/>
              <a:ext cx="13906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0" name="original columns"/>
            <p:cNvSpPr txBox="1"/>
            <p:nvPr/>
          </p:nvSpPr>
          <p:spPr>
            <a:xfrm>
              <a:off x="0" y="0"/>
              <a:ext cx="13906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original columns</a:t>
              </a:r>
            </a:p>
          </p:txBody>
        </p:sp>
      </p:grpSp>
      <p:sp>
        <p:nvSpPr>
          <p:cNvPr id="122" name="Rectangle"/>
          <p:cNvSpPr/>
          <p:nvPr/>
        </p:nvSpPr>
        <p:spPr>
          <a:xfrm>
            <a:off x="4476750" y="2914650"/>
            <a:ext cx="1695450" cy="9144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25" name="Group"/>
          <p:cNvGrpSpPr/>
          <p:nvPr/>
        </p:nvGrpSpPr>
        <p:grpSpPr>
          <a:xfrm>
            <a:off x="4629150" y="3067050"/>
            <a:ext cx="1390650" cy="361950"/>
            <a:chOff x="0" y="0"/>
            <a:chExt cx="1390650" cy="361950"/>
          </a:xfrm>
        </p:grpSpPr>
        <p:sp>
          <p:nvSpPr>
            <p:cNvPr id="123" name="Rectangle"/>
            <p:cNvSpPr/>
            <p:nvPr/>
          </p:nvSpPr>
          <p:spPr>
            <a:xfrm>
              <a:off x="0" y="0"/>
              <a:ext cx="13906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4" name="0 / 1"/>
            <p:cNvSpPr txBox="1"/>
            <p:nvPr/>
          </p:nvSpPr>
          <p:spPr>
            <a:xfrm>
              <a:off x="0" y="0"/>
              <a:ext cx="1390650" cy="296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 / 1</a:t>
              </a:r>
            </a:p>
          </p:txBody>
        </p:sp>
      </p:grpSp>
      <p:grpSp>
        <p:nvGrpSpPr>
          <p:cNvPr id="128" name="Group"/>
          <p:cNvGrpSpPr/>
          <p:nvPr/>
        </p:nvGrpSpPr>
        <p:grpSpPr>
          <a:xfrm>
            <a:off x="4629150" y="3467100"/>
            <a:ext cx="1390650" cy="247650"/>
            <a:chOff x="0" y="0"/>
            <a:chExt cx="1390650" cy="247650"/>
          </a:xfrm>
        </p:grpSpPr>
        <p:sp>
          <p:nvSpPr>
            <p:cNvPr id="126" name="Rectangle"/>
            <p:cNvSpPr/>
            <p:nvPr/>
          </p:nvSpPr>
          <p:spPr>
            <a:xfrm>
              <a:off x="0" y="0"/>
              <a:ext cx="13906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7" name="target label"/>
            <p:cNvSpPr txBox="1"/>
            <p:nvPr/>
          </p:nvSpPr>
          <p:spPr>
            <a:xfrm>
              <a:off x="0" y="0"/>
              <a:ext cx="13906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target label</a:t>
              </a:r>
            </a:p>
          </p:txBody>
        </p:sp>
      </p:grpSp>
      <p:grpSp>
        <p:nvGrpSpPr>
          <p:cNvPr id="131" name="Group"/>
          <p:cNvGrpSpPr/>
          <p:nvPr/>
        </p:nvGrpSpPr>
        <p:grpSpPr>
          <a:xfrm>
            <a:off x="647700" y="4476750"/>
            <a:ext cx="5334000" cy="762000"/>
            <a:chOff x="0" y="0"/>
            <a:chExt cx="5334000" cy="762000"/>
          </a:xfrm>
        </p:grpSpPr>
        <p:sp>
          <p:nvSpPr>
            <p:cNvPr id="129" name="Rectangle"/>
            <p:cNvSpPr/>
            <p:nvPr/>
          </p:nvSpPr>
          <p:spPr>
            <a:xfrm>
              <a:off x="0" y="0"/>
              <a:ext cx="5334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5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0" name="Because roughly one quarter of customers churned, a majority-class model can look acceptable by accuracy while failing the practical objective."/>
            <p:cNvSpPr txBox="1"/>
            <p:nvPr/>
          </p:nvSpPr>
          <p:spPr>
            <a:xfrm>
              <a:off x="0" y="0"/>
              <a:ext cx="5334000" cy="6414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5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Because roughly one quarter of customers churned, a majority-class model can look acceptable by accuracy while failing the practical objective.</a:t>
              </a:r>
            </a:p>
          </p:txBody>
        </p:sp>
      </p:grpSp>
      <p:pic>
        <p:nvPicPr>
          <p:cNvPr id="132" name="image3.png" descr="image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58000" y="1787239"/>
            <a:ext cx="4429125" cy="24262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5" name="Rectangle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38" name="Group"/>
          <p:cNvGrpSpPr/>
          <p:nvPr/>
        </p:nvGrpSpPr>
        <p:grpSpPr>
          <a:xfrm>
            <a:off x="609600" y="342900"/>
            <a:ext cx="8001000" cy="533400"/>
            <a:chOff x="0" y="0"/>
            <a:chExt cx="8001000" cy="533400"/>
          </a:xfrm>
        </p:grpSpPr>
        <p:sp>
          <p:nvSpPr>
            <p:cNvPr id="136" name="Rectangle"/>
            <p:cNvSpPr/>
            <p:nvPr/>
          </p:nvSpPr>
          <p:spPr>
            <a:xfrm>
              <a:off x="0" y="0"/>
              <a:ext cx="80010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9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7" name="Workflow"/>
            <p:cNvSpPr txBox="1"/>
            <p:nvPr/>
          </p:nvSpPr>
          <p:spPr>
            <a:xfrm>
              <a:off x="0" y="0"/>
              <a:ext cx="8001000" cy="2715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9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Workflow</a:t>
              </a:r>
            </a:p>
          </p:txBody>
        </p:sp>
      </p:grpSp>
      <p:grpSp>
        <p:nvGrpSpPr>
          <p:cNvPr id="141" name="Group"/>
          <p:cNvGrpSpPr/>
          <p:nvPr/>
        </p:nvGrpSpPr>
        <p:grpSpPr>
          <a:xfrm>
            <a:off x="8686800" y="6334125"/>
            <a:ext cx="2857500" cy="228600"/>
            <a:chOff x="0" y="0"/>
            <a:chExt cx="2857500" cy="228600"/>
          </a:xfrm>
        </p:grpSpPr>
        <p:sp>
          <p:nvSpPr>
            <p:cNvPr id="139" name="Rectangle"/>
            <p:cNvSpPr/>
            <p:nvPr/>
          </p:nvSpPr>
          <p:spPr>
            <a:xfrm>
              <a:off x="0" y="0"/>
              <a:ext cx="28575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0" name="Customer churn prediction | 04"/>
            <p:cNvSpPr txBox="1"/>
            <p:nvPr/>
          </p:nvSpPr>
          <p:spPr>
            <a:xfrm>
              <a:off x="0" y="0"/>
              <a:ext cx="28575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Customer churn prediction | 04</a:t>
              </a:r>
            </a:p>
          </p:txBody>
        </p:sp>
      </p:grpSp>
      <p:grpSp>
        <p:nvGrpSpPr>
          <p:cNvPr id="144" name="Group"/>
          <p:cNvGrpSpPr/>
          <p:nvPr/>
        </p:nvGrpSpPr>
        <p:grpSpPr>
          <a:xfrm>
            <a:off x="609600" y="1028700"/>
            <a:ext cx="7048500" cy="438150"/>
            <a:chOff x="0" y="0"/>
            <a:chExt cx="7048500" cy="438150"/>
          </a:xfrm>
        </p:grpSpPr>
        <p:sp>
          <p:nvSpPr>
            <p:cNvPr id="142" name="Rectangle"/>
            <p:cNvSpPr/>
            <p:nvPr/>
          </p:nvSpPr>
          <p:spPr>
            <a:xfrm>
              <a:off x="0" y="0"/>
              <a:ext cx="7048500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3" name="A reproducible pipeline from raw customer table to selected model"/>
            <p:cNvSpPr txBox="1"/>
            <p:nvPr/>
          </p:nvSpPr>
          <p:spPr>
            <a:xfrm>
              <a:off x="0" y="0"/>
              <a:ext cx="70485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reproducible pipeline from raw customer table to selected model</a:t>
              </a:r>
            </a:p>
          </p:txBody>
        </p:sp>
      </p:grpSp>
      <p:sp>
        <p:nvSpPr>
          <p:cNvPr id="145" name="Rectangle"/>
          <p:cNvSpPr/>
          <p:nvPr/>
        </p:nvSpPr>
        <p:spPr>
          <a:xfrm>
            <a:off x="742950" y="1952625"/>
            <a:ext cx="2857500" cy="112395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48" name="Group"/>
          <p:cNvGrpSpPr/>
          <p:nvPr/>
        </p:nvGrpSpPr>
        <p:grpSpPr>
          <a:xfrm>
            <a:off x="933450" y="2143125"/>
            <a:ext cx="419100" cy="304800"/>
            <a:chOff x="0" y="0"/>
            <a:chExt cx="419100" cy="304800"/>
          </a:xfrm>
        </p:grpSpPr>
        <p:sp>
          <p:nvSpPr>
            <p:cNvPr id="146" name="Rectangle"/>
            <p:cNvSpPr/>
            <p:nvPr/>
          </p:nvSpPr>
          <p:spPr>
            <a:xfrm>
              <a:off x="0" y="0"/>
              <a:ext cx="4191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7" name="01"/>
            <p:cNvSpPr txBox="1"/>
            <p:nvPr/>
          </p:nvSpPr>
          <p:spPr>
            <a:xfrm>
              <a:off x="0" y="0"/>
              <a:ext cx="4191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01</a:t>
              </a:r>
            </a:p>
          </p:txBody>
        </p:sp>
      </p:grpSp>
      <p:grpSp>
        <p:nvGrpSpPr>
          <p:cNvPr id="151" name="Group"/>
          <p:cNvGrpSpPr/>
          <p:nvPr/>
        </p:nvGrpSpPr>
        <p:grpSpPr>
          <a:xfrm>
            <a:off x="1428750" y="2143125"/>
            <a:ext cx="2000250" cy="266700"/>
            <a:chOff x="0" y="0"/>
            <a:chExt cx="2000250" cy="266700"/>
          </a:xfrm>
        </p:grpSpPr>
        <p:sp>
          <p:nvSpPr>
            <p:cNvPr id="149" name="Rectangle"/>
            <p:cNvSpPr/>
            <p:nvPr/>
          </p:nvSpPr>
          <p:spPr>
            <a:xfrm>
              <a:off x="0" y="0"/>
              <a:ext cx="20002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0" name="Cleaning"/>
            <p:cNvSpPr txBox="1"/>
            <p:nvPr/>
          </p:nvSpPr>
          <p:spPr>
            <a:xfrm>
              <a:off x="0" y="0"/>
              <a:ext cx="20002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Cleaning</a:t>
              </a:r>
            </a:p>
          </p:txBody>
        </p:sp>
      </p:grpSp>
      <p:grpSp>
        <p:nvGrpSpPr>
          <p:cNvPr id="154" name="Group"/>
          <p:cNvGrpSpPr/>
          <p:nvPr/>
        </p:nvGrpSpPr>
        <p:grpSpPr>
          <a:xfrm>
            <a:off x="1428750" y="2466975"/>
            <a:ext cx="1952625" cy="457200"/>
            <a:chOff x="0" y="0"/>
            <a:chExt cx="1952625" cy="457200"/>
          </a:xfrm>
        </p:grpSpPr>
        <p:sp>
          <p:nvSpPr>
            <p:cNvPr id="152" name="Rectangle"/>
            <p:cNvSpPr/>
            <p:nvPr/>
          </p:nvSpPr>
          <p:spPr>
            <a:xfrm>
              <a:off x="0" y="0"/>
              <a:ext cx="1952625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3" name="Convert TotalCharges, remove 11 missing rows"/>
            <p:cNvSpPr txBox="1"/>
            <p:nvPr/>
          </p:nvSpPr>
          <p:spPr>
            <a:xfrm>
              <a:off x="0" y="0"/>
              <a:ext cx="1952625" cy="2752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Convert TotalCharges, remove 11 missing rows</a:t>
              </a:r>
            </a:p>
          </p:txBody>
        </p:sp>
      </p:grpSp>
      <p:sp>
        <p:nvSpPr>
          <p:cNvPr id="155" name="Rectangle"/>
          <p:cNvSpPr/>
          <p:nvPr/>
        </p:nvSpPr>
        <p:spPr>
          <a:xfrm>
            <a:off x="3743325" y="2486025"/>
            <a:ext cx="381000" cy="19050"/>
          </a:xfrm>
          <a:prstGeom prst="rect">
            <a:avLst/>
          </a:prstGeom>
          <a:solidFill>
            <a:srgbClr val="D9E1E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6" name="Rectangle"/>
          <p:cNvSpPr/>
          <p:nvPr/>
        </p:nvSpPr>
        <p:spPr>
          <a:xfrm>
            <a:off x="4438650" y="1952625"/>
            <a:ext cx="2857500" cy="112395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59" name="Group"/>
          <p:cNvGrpSpPr/>
          <p:nvPr/>
        </p:nvGrpSpPr>
        <p:grpSpPr>
          <a:xfrm>
            <a:off x="4629150" y="2143125"/>
            <a:ext cx="419100" cy="304800"/>
            <a:chOff x="0" y="0"/>
            <a:chExt cx="419100" cy="304800"/>
          </a:xfrm>
        </p:grpSpPr>
        <p:sp>
          <p:nvSpPr>
            <p:cNvPr id="157" name="Rectangle"/>
            <p:cNvSpPr/>
            <p:nvPr/>
          </p:nvSpPr>
          <p:spPr>
            <a:xfrm>
              <a:off x="0" y="0"/>
              <a:ext cx="4191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8" name="02"/>
            <p:cNvSpPr txBox="1"/>
            <p:nvPr/>
          </p:nvSpPr>
          <p:spPr>
            <a:xfrm>
              <a:off x="0" y="0"/>
              <a:ext cx="4191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02</a:t>
              </a:r>
            </a:p>
          </p:txBody>
        </p:sp>
      </p:grpSp>
      <p:grpSp>
        <p:nvGrpSpPr>
          <p:cNvPr id="162" name="Group"/>
          <p:cNvGrpSpPr/>
          <p:nvPr/>
        </p:nvGrpSpPr>
        <p:grpSpPr>
          <a:xfrm>
            <a:off x="5124450" y="2143125"/>
            <a:ext cx="2000250" cy="266700"/>
            <a:chOff x="0" y="0"/>
            <a:chExt cx="2000250" cy="266700"/>
          </a:xfrm>
        </p:grpSpPr>
        <p:sp>
          <p:nvSpPr>
            <p:cNvPr id="160" name="Rectangle"/>
            <p:cNvSpPr/>
            <p:nvPr/>
          </p:nvSpPr>
          <p:spPr>
            <a:xfrm>
              <a:off x="0" y="0"/>
              <a:ext cx="20002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1" name="EDA"/>
            <p:cNvSpPr txBox="1"/>
            <p:nvPr/>
          </p:nvSpPr>
          <p:spPr>
            <a:xfrm>
              <a:off x="0" y="0"/>
              <a:ext cx="20002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EDA</a:t>
              </a:r>
            </a:p>
          </p:txBody>
        </p:sp>
      </p:grpSp>
      <p:grpSp>
        <p:nvGrpSpPr>
          <p:cNvPr id="165" name="Group"/>
          <p:cNvGrpSpPr/>
          <p:nvPr/>
        </p:nvGrpSpPr>
        <p:grpSpPr>
          <a:xfrm>
            <a:off x="5124450" y="2466975"/>
            <a:ext cx="1952625" cy="457200"/>
            <a:chOff x="0" y="0"/>
            <a:chExt cx="1952625" cy="457200"/>
          </a:xfrm>
        </p:grpSpPr>
        <p:sp>
          <p:nvSpPr>
            <p:cNvPr id="163" name="Rectangle"/>
            <p:cNvSpPr/>
            <p:nvPr/>
          </p:nvSpPr>
          <p:spPr>
            <a:xfrm>
              <a:off x="0" y="0"/>
              <a:ext cx="1952625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4" name="Inspect churn patterns across service and contract variables"/>
            <p:cNvSpPr txBox="1"/>
            <p:nvPr/>
          </p:nvSpPr>
          <p:spPr>
            <a:xfrm>
              <a:off x="0" y="0"/>
              <a:ext cx="1952625" cy="2752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Inspect churn patterns across service and contract variables</a:t>
              </a:r>
            </a:p>
          </p:txBody>
        </p:sp>
      </p:grpSp>
      <p:sp>
        <p:nvSpPr>
          <p:cNvPr id="166" name="Rectangle"/>
          <p:cNvSpPr/>
          <p:nvPr/>
        </p:nvSpPr>
        <p:spPr>
          <a:xfrm>
            <a:off x="7439025" y="2486025"/>
            <a:ext cx="381000" cy="19050"/>
          </a:xfrm>
          <a:prstGeom prst="rect">
            <a:avLst/>
          </a:prstGeom>
          <a:solidFill>
            <a:srgbClr val="D9E1E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7" name="Rectangle"/>
          <p:cNvSpPr/>
          <p:nvPr/>
        </p:nvSpPr>
        <p:spPr>
          <a:xfrm>
            <a:off x="8134350" y="1952625"/>
            <a:ext cx="2857500" cy="112395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70" name="Group"/>
          <p:cNvGrpSpPr/>
          <p:nvPr/>
        </p:nvGrpSpPr>
        <p:grpSpPr>
          <a:xfrm>
            <a:off x="8324850" y="2143125"/>
            <a:ext cx="419100" cy="304800"/>
            <a:chOff x="0" y="0"/>
            <a:chExt cx="419100" cy="304800"/>
          </a:xfrm>
        </p:grpSpPr>
        <p:sp>
          <p:nvSpPr>
            <p:cNvPr id="168" name="Rectangle"/>
            <p:cNvSpPr/>
            <p:nvPr/>
          </p:nvSpPr>
          <p:spPr>
            <a:xfrm>
              <a:off x="0" y="0"/>
              <a:ext cx="4191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9" name="03"/>
            <p:cNvSpPr txBox="1"/>
            <p:nvPr/>
          </p:nvSpPr>
          <p:spPr>
            <a:xfrm>
              <a:off x="0" y="0"/>
              <a:ext cx="4191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03</a:t>
              </a:r>
            </a:p>
          </p:txBody>
        </p:sp>
      </p:grpSp>
      <p:grpSp>
        <p:nvGrpSpPr>
          <p:cNvPr id="173" name="Group"/>
          <p:cNvGrpSpPr/>
          <p:nvPr/>
        </p:nvGrpSpPr>
        <p:grpSpPr>
          <a:xfrm>
            <a:off x="8820150" y="2143125"/>
            <a:ext cx="2000250" cy="266700"/>
            <a:chOff x="0" y="0"/>
            <a:chExt cx="2000250" cy="266700"/>
          </a:xfrm>
        </p:grpSpPr>
        <p:sp>
          <p:nvSpPr>
            <p:cNvPr id="171" name="Rectangle"/>
            <p:cNvSpPr/>
            <p:nvPr/>
          </p:nvSpPr>
          <p:spPr>
            <a:xfrm>
              <a:off x="0" y="0"/>
              <a:ext cx="20002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72" name="Feature engineering"/>
            <p:cNvSpPr txBox="1"/>
            <p:nvPr/>
          </p:nvSpPr>
          <p:spPr>
            <a:xfrm>
              <a:off x="0" y="0"/>
              <a:ext cx="20002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Feature engineering</a:t>
              </a:r>
            </a:p>
          </p:txBody>
        </p:sp>
      </p:grpSp>
      <p:grpSp>
        <p:nvGrpSpPr>
          <p:cNvPr id="176" name="Group"/>
          <p:cNvGrpSpPr/>
          <p:nvPr/>
        </p:nvGrpSpPr>
        <p:grpSpPr>
          <a:xfrm>
            <a:off x="8820150" y="2466975"/>
            <a:ext cx="1952625" cy="457200"/>
            <a:chOff x="0" y="0"/>
            <a:chExt cx="1952625" cy="457200"/>
          </a:xfrm>
        </p:grpSpPr>
        <p:sp>
          <p:nvSpPr>
            <p:cNvPr id="174" name="Rectangle"/>
            <p:cNvSpPr/>
            <p:nvPr/>
          </p:nvSpPr>
          <p:spPr>
            <a:xfrm>
              <a:off x="0" y="0"/>
              <a:ext cx="1952625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75" name="Summarize services, tenure bands, payments, charges"/>
            <p:cNvSpPr txBox="1"/>
            <p:nvPr/>
          </p:nvSpPr>
          <p:spPr>
            <a:xfrm>
              <a:off x="0" y="0"/>
              <a:ext cx="1952625" cy="2752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Summarize services, tenure bands, payments, charges</a:t>
              </a:r>
            </a:p>
          </p:txBody>
        </p:sp>
      </p:grpSp>
      <p:sp>
        <p:nvSpPr>
          <p:cNvPr id="177" name="Rectangle"/>
          <p:cNvSpPr/>
          <p:nvPr/>
        </p:nvSpPr>
        <p:spPr>
          <a:xfrm>
            <a:off x="742950" y="3905250"/>
            <a:ext cx="2857500" cy="112395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80" name="Group"/>
          <p:cNvGrpSpPr/>
          <p:nvPr/>
        </p:nvGrpSpPr>
        <p:grpSpPr>
          <a:xfrm>
            <a:off x="933450" y="4095750"/>
            <a:ext cx="419100" cy="304800"/>
            <a:chOff x="0" y="0"/>
            <a:chExt cx="419100" cy="304800"/>
          </a:xfrm>
        </p:grpSpPr>
        <p:sp>
          <p:nvSpPr>
            <p:cNvPr id="178" name="Rectangle"/>
            <p:cNvSpPr/>
            <p:nvPr/>
          </p:nvSpPr>
          <p:spPr>
            <a:xfrm>
              <a:off x="0" y="0"/>
              <a:ext cx="4191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79" name="04"/>
            <p:cNvSpPr txBox="1"/>
            <p:nvPr/>
          </p:nvSpPr>
          <p:spPr>
            <a:xfrm>
              <a:off x="0" y="0"/>
              <a:ext cx="4191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04</a:t>
              </a:r>
            </a:p>
          </p:txBody>
        </p:sp>
      </p:grpSp>
      <p:grpSp>
        <p:nvGrpSpPr>
          <p:cNvPr id="183" name="Group"/>
          <p:cNvGrpSpPr/>
          <p:nvPr/>
        </p:nvGrpSpPr>
        <p:grpSpPr>
          <a:xfrm>
            <a:off x="1428750" y="4095750"/>
            <a:ext cx="2000250" cy="266700"/>
            <a:chOff x="0" y="0"/>
            <a:chExt cx="2000250" cy="266700"/>
          </a:xfrm>
        </p:grpSpPr>
        <p:sp>
          <p:nvSpPr>
            <p:cNvPr id="181" name="Rectangle"/>
            <p:cNvSpPr/>
            <p:nvPr/>
          </p:nvSpPr>
          <p:spPr>
            <a:xfrm>
              <a:off x="0" y="0"/>
              <a:ext cx="20002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2" name="Preprocessing"/>
            <p:cNvSpPr txBox="1"/>
            <p:nvPr/>
          </p:nvSpPr>
          <p:spPr>
            <a:xfrm>
              <a:off x="0" y="0"/>
              <a:ext cx="20002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Preprocessing</a:t>
              </a:r>
            </a:p>
          </p:txBody>
        </p:sp>
      </p:grpSp>
      <p:grpSp>
        <p:nvGrpSpPr>
          <p:cNvPr id="186" name="Group"/>
          <p:cNvGrpSpPr/>
          <p:nvPr/>
        </p:nvGrpSpPr>
        <p:grpSpPr>
          <a:xfrm>
            <a:off x="1428750" y="4419600"/>
            <a:ext cx="1952625" cy="457200"/>
            <a:chOff x="0" y="0"/>
            <a:chExt cx="1952625" cy="457200"/>
          </a:xfrm>
        </p:grpSpPr>
        <p:sp>
          <p:nvSpPr>
            <p:cNvPr id="184" name="Rectangle"/>
            <p:cNvSpPr/>
            <p:nvPr/>
          </p:nvSpPr>
          <p:spPr>
            <a:xfrm>
              <a:off x="0" y="0"/>
              <a:ext cx="1952625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5" name="Scale numeric fields and one-hot encode categoricals"/>
            <p:cNvSpPr txBox="1"/>
            <p:nvPr/>
          </p:nvSpPr>
          <p:spPr>
            <a:xfrm>
              <a:off x="0" y="0"/>
              <a:ext cx="1952625" cy="2752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Scale numeric fields and one-hot encode categoricals</a:t>
              </a:r>
            </a:p>
          </p:txBody>
        </p:sp>
      </p:grpSp>
      <p:sp>
        <p:nvSpPr>
          <p:cNvPr id="187" name="Rectangle"/>
          <p:cNvSpPr/>
          <p:nvPr/>
        </p:nvSpPr>
        <p:spPr>
          <a:xfrm>
            <a:off x="3743325" y="4438650"/>
            <a:ext cx="381000" cy="19050"/>
          </a:xfrm>
          <a:prstGeom prst="rect">
            <a:avLst/>
          </a:prstGeom>
          <a:solidFill>
            <a:srgbClr val="D9E1E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8" name="Rectangle"/>
          <p:cNvSpPr/>
          <p:nvPr/>
        </p:nvSpPr>
        <p:spPr>
          <a:xfrm>
            <a:off x="4438650" y="3905250"/>
            <a:ext cx="2857500" cy="112395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91" name="Group"/>
          <p:cNvGrpSpPr/>
          <p:nvPr/>
        </p:nvGrpSpPr>
        <p:grpSpPr>
          <a:xfrm>
            <a:off x="4629150" y="4095750"/>
            <a:ext cx="419100" cy="304800"/>
            <a:chOff x="0" y="0"/>
            <a:chExt cx="419100" cy="304800"/>
          </a:xfrm>
        </p:grpSpPr>
        <p:sp>
          <p:nvSpPr>
            <p:cNvPr id="189" name="Rectangle"/>
            <p:cNvSpPr/>
            <p:nvPr/>
          </p:nvSpPr>
          <p:spPr>
            <a:xfrm>
              <a:off x="0" y="0"/>
              <a:ext cx="4191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0" name="05"/>
            <p:cNvSpPr txBox="1"/>
            <p:nvPr/>
          </p:nvSpPr>
          <p:spPr>
            <a:xfrm>
              <a:off x="0" y="0"/>
              <a:ext cx="4191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05</a:t>
              </a:r>
            </a:p>
          </p:txBody>
        </p:sp>
      </p:grpSp>
      <p:grpSp>
        <p:nvGrpSpPr>
          <p:cNvPr id="194" name="Group"/>
          <p:cNvGrpSpPr/>
          <p:nvPr/>
        </p:nvGrpSpPr>
        <p:grpSpPr>
          <a:xfrm>
            <a:off x="5124450" y="4095750"/>
            <a:ext cx="2000250" cy="266700"/>
            <a:chOff x="0" y="0"/>
            <a:chExt cx="2000250" cy="266700"/>
          </a:xfrm>
        </p:grpSpPr>
        <p:sp>
          <p:nvSpPr>
            <p:cNvPr id="192" name="Rectangle"/>
            <p:cNvSpPr/>
            <p:nvPr/>
          </p:nvSpPr>
          <p:spPr>
            <a:xfrm>
              <a:off x="0" y="0"/>
              <a:ext cx="20002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3" name="Model comparison"/>
            <p:cNvSpPr txBox="1"/>
            <p:nvPr/>
          </p:nvSpPr>
          <p:spPr>
            <a:xfrm>
              <a:off x="0" y="0"/>
              <a:ext cx="20002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Model comparison</a:t>
              </a:r>
            </a:p>
          </p:txBody>
        </p:sp>
      </p:grpSp>
      <p:grpSp>
        <p:nvGrpSpPr>
          <p:cNvPr id="197" name="Group"/>
          <p:cNvGrpSpPr/>
          <p:nvPr/>
        </p:nvGrpSpPr>
        <p:grpSpPr>
          <a:xfrm>
            <a:off x="5124450" y="4419600"/>
            <a:ext cx="1952625" cy="457200"/>
            <a:chOff x="0" y="0"/>
            <a:chExt cx="1952625" cy="457200"/>
          </a:xfrm>
        </p:grpSpPr>
        <p:sp>
          <p:nvSpPr>
            <p:cNvPr id="195" name="Rectangle"/>
            <p:cNvSpPr/>
            <p:nvPr/>
          </p:nvSpPr>
          <p:spPr>
            <a:xfrm>
              <a:off x="0" y="0"/>
              <a:ext cx="1952625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6" name="Evaluate multiple classifiers on same split"/>
            <p:cNvSpPr txBox="1"/>
            <p:nvPr/>
          </p:nvSpPr>
          <p:spPr>
            <a:xfrm>
              <a:off x="0" y="0"/>
              <a:ext cx="1952625" cy="2752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Evaluate multiple classifiers on same split</a:t>
              </a:r>
            </a:p>
          </p:txBody>
        </p:sp>
      </p:grpSp>
      <p:sp>
        <p:nvSpPr>
          <p:cNvPr id="198" name="Rectangle"/>
          <p:cNvSpPr/>
          <p:nvPr/>
        </p:nvSpPr>
        <p:spPr>
          <a:xfrm>
            <a:off x="7439025" y="4438650"/>
            <a:ext cx="381000" cy="19050"/>
          </a:xfrm>
          <a:prstGeom prst="rect">
            <a:avLst/>
          </a:prstGeom>
          <a:solidFill>
            <a:srgbClr val="D9E1E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9" name="Rectangle"/>
          <p:cNvSpPr/>
          <p:nvPr/>
        </p:nvSpPr>
        <p:spPr>
          <a:xfrm>
            <a:off x="8134350" y="3905250"/>
            <a:ext cx="2857500" cy="112395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02" name="Group"/>
          <p:cNvGrpSpPr/>
          <p:nvPr/>
        </p:nvGrpSpPr>
        <p:grpSpPr>
          <a:xfrm>
            <a:off x="8324850" y="4095750"/>
            <a:ext cx="419100" cy="304800"/>
            <a:chOff x="0" y="0"/>
            <a:chExt cx="419100" cy="304800"/>
          </a:xfrm>
        </p:grpSpPr>
        <p:sp>
          <p:nvSpPr>
            <p:cNvPr id="200" name="Rectangle"/>
            <p:cNvSpPr/>
            <p:nvPr/>
          </p:nvSpPr>
          <p:spPr>
            <a:xfrm>
              <a:off x="0" y="0"/>
              <a:ext cx="4191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1" name="06"/>
            <p:cNvSpPr txBox="1"/>
            <p:nvPr/>
          </p:nvSpPr>
          <p:spPr>
            <a:xfrm>
              <a:off x="0" y="0"/>
              <a:ext cx="4191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06</a:t>
              </a:r>
            </a:p>
          </p:txBody>
        </p:sp>
      </p:grpSp>
      <p:grpSp>
        <p:nvGrpSpPr>
          <p:cNvPr id="205" name="Group"/>
          <p:cNvGrpSpPr/>
          <p:nvPr/>
        </p:nvGrpSpPr>
        <p:grpSpPr>
          <a:xfrm>
            <a:off x="8820150" y="4095750"/>
            <a:ext cx="2000250" cy="266700"/>
            <a:chOff x="0" y="0"/>
            <a:chExt cx="2000250" cy="266700"/>
          </a:xfrm>
        </p:grpSpPr>
        <p:sp>
          <p:nvSpPr>
            <p:cNvPr id="203" name="Rectangle"/>
            <p:cNvSpPr/>
            <p:nvPr/>
          </p:nvSpPr>
          <p:spPr>
            <a:xfrm>
              <a:off x="0" y="0"/>
              <a:ext cx="20002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4" name="Tuning"/>
            <p:cNvSpPr txBox="1"/>
            <p:nvPr/>
          </p:nvSpPr>
          <p:spPr>
            <a:xfrm>
              <a:off x="0" y="0"/>
              <a:ext cx="20002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Tuning</a:t>
              </a:r>
            </a:p>
          </p:txBody>
        </p:sp>
      </p:grpSp>
      <p:grpSp>
        <p:nvGrpSpPr>
          <p:cNvPr id="208" name="Group"/>
          <p:cNvGrpSpPr/>
          <p:nvPr/>
        </p:nvGrpSpPr>
        <p:grpSpPr>
          <a:xfrm>
            <a:off x="8820150" y="4419600"/>
            <a:ext cx="1952625" cy="457200"/>
            <a:chOff x="0" y="0"/>
            <a:chExt cx="1952625" cy="457200"/>
          </a:xfrm>
        </p:grpSpPr>
        <p:sp>
          <p:nvSpPr>
            <p:cNvPr id="206" name="Rectangle"/>
            <p:cNvSpPr/>
            <p:nvPr/>
          </p:nvSpPr>
          <p:spPr>
            <a:xfrm>
              <a:off x="0" y="0"/>
              <a:ext cx="1952625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7" name="Optimize Random Forest and Gradient Boosting for F1"/>
            <p:cNvSpPr txBox="1"/>
            <p:nvPr/>
          </p:nvSpPr>
          <p:spPr>
            <a:xfrm>
              <a:off x="0" y="0"/>
              <a:ext cx="1952625" cy="2752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Optimize Random Forest and Gradient Boosting for F1</a:t>
              </a:r>
            </a:p>
          </p:txBody>
        </p:sp>
      </p:grpSp>
      <p:grpSp>
        <p:nvGrpSpPr>
          <p:cNvPr id="211" name="Group"/>
          <p:cNvGrpSpPr/>
          <p:nvPr/>
        </p:nvGrpSpPr>
        <p:grpSpPr>
          <a:xfrm>
            <a:off x="3390900" y="5857875"/>
            <a:ext cx="5429250" cy="285750"/>
            <a:chOff x="0" y="0"/>
            <a:chExt cx="5429250" cy="285750"/>
          </a:xfrm>
        </p:grpSpPr>
        <p:sp>
          <p:nvSpPr>
            <p:cNvPr id="209" name="Rectangle"/>
            <p:cNvSpPr/>
            <p:nvPr/>
          </p:nvSpPr>
          <p:spPr>
            <a:xfrm>
              <a:off x="0" y="0"/>
              <a:ext cx="542925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b="1" sz="14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0" name="Evaluation focus: precision, recall, F1-score, ROC-AUC"/>
            <p:cNvSpPr txBox="1"/>
            <p:nvPr/>
          </p:nvSpPr>
          <p:spPr>
            <a:xfrm>
              <a:off x="0" y="0"/>
              <a:ext cx="54292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4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Evaluation focus: precision, recall, F1-score, ROC-AUC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4" name="Rectangle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17" name="Group"/>
          <p:cNvGrpSpPr/>
          <p:nvPr/>
        </p:nvGrpSpPr>
        <p:grpSpPr>
          <a:xfrm>
            <a:off x="609600" y="342900"/>
            <a:ext cx="8001000" cy="533400"/>
            <a:chOff x="0" y="0"/>
            <a:chExt cx="8001000" cy="533400"/>
          </a:xfrm>
        </p:grpSpPr>
        <p:sp>
          <p:nvSpPr>
            <p:cNvPr id="215" name="Rectangle"/>
            <p:cNvSpPr/>
            <p:nvPr/>
          </p:nvSpPr>
          <p:spPr>
            <a:xfrm>
              <a:off x="0" y="0"/>
              <a:ext cx="80010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9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6" name="Exploratory findings"/>
            <p:cNvSpPr txBox="1"/>
            <p:nvPr/>
          </p:nvSpPr>
          <p:spPr>
            <a:xfrm>
              <a:off x="0" y="0"/>
              <a:ext cx="8001000" cy="2715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9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Exploratory findings</a:t>
              </a:r>
            </a:p>
          </p:txBody>
        </p:sp>
      </p:grpSp>
      <p:grpSp>
        <p:nvGrpSpPr>
          <p:cNvPr id="220" name="Group"/>
          <p:cNvGrpSpPr/>
          <p:nvPr/>
        </p:nvGrpSpPr>
        <p:grpSpPr>
          <a:xfrm>
            <a:off x="8686800" y="6334125"/>
            <a:ext cx="2857500" cy="228600"/>
            <a:chOff x="0" y="0"/>
            <a:chExt cx="2857500" cy="228600"/>
          </a:xfrm>
        </p:grpSpPr>
        <p:sp>
          <p:nvSpPr>
            <p:cNvPr id="218" name="Rectangle"/>
            <p:cNvSpPr/>
            <p:nvPr/>
          </p:nvSpPr>
          <p:spPr>
            <a:xfrm>
              <a:off x="0" y="0"/>
              <a:ext cx="28575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9" name="Customer churn prediction | 05"/>
            <p:cNvSpPr txBox="1"/>
            <p:nvPr/>
          </p:nvSpPr>
          <p:spPr>
            <a:xfrm>
              <a:off x="0" y="0"/>
              <a:ext cx="28575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Customer churn prediction | 05</a:t>
              </a:r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628650" y="1123950"/>
            <a:ext cx="5619750" cy="914400"/>
            <a:chOff x="0" y="0"/>
            <a:chExt cx="5619750" cy="914400"/>
          </a:xfrm>
        </p:grpSpPr>
        <p:sp>
          <p:nvSpPr>
            <p:cNvPr id="221" name="Rectangle"/>
            <p:cNvSpPr/>
            <p:nvPr/>
          </p:nvSpPr>
          <p:spPr>
            <a:xfrm>
              <a:off x="0" y="0"/>
              <a:ext cx="5619750" cy="914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0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2" name="Churn risk is visibly connected to contract commitment, support services, payment behavior, and tenure."/>
            <p:cNvSpPr txBox="1"/>
            <p:nvPr/>
          </p:nvSpPr>
          <p:spPr>
            <a:xfrm>
              <a:off x="0" y="0"/>
              <a:ext cx="5619750" cy="8679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0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Churn risk is visibly connected to contract commitment, support services, payment behavior, and tenure.</a:t>
              </a:r>
            </a:p>
          </p:txBody>
        </p:sp>
      </p:grpSp>
      <p:sp>
        <p:nvSpPr>
          <p:cNvPr id="224" name="Circle"/>
          <p:cNvSpPr/>
          <p:nvPr/>
        </p:nvSpPr>
        <p:spPr>
          <a:xfrm>
            <a:off x="666750" y="2447925"/>
            <a:ext cx="85726" cy="85726"/>
          </a:xfrm>
          <a:prstGeom prst="ellipse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27" name="Group"/>
          <p:cNvGrpSpPr/>
          <p:nvPr/>
        </p:nvGrpSpPr>
        <p:grpSpPr>
          <a:xfrm>
            <a:off x="895350" y="2362200"/>
            <a:ext cx="5095875" cy="400050"/>
            <a:chOff x="0" y="0"/>
            <a:chExt cx="5095875" cy="400050"/>
          </a:xfrm>
        </p:grpSpPr>
        <p:sp>
          <p:nvSpPr>
            <p:cNvPr id="225" name="Rectangle"/>
            <p:cNvSpPr/>
            <p:nvPr/>
          </p:nvSpPr>
          <p:spPr>
            <a:xfrm>
              <a:off x="0" y="0"/>
              <a:ext cx="5095875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6" name="Month-to-month contracts show higher churn."/>
            <p:cNvSpPr txBox="1"/>
            <p:nvPr/>
          </p:nvSpPr>
          <p:spPr>
            <a:xfrm>
              <a:off x="0" y="0"/>
              <a:ext cx="5095875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Month-to-month contracts show higher churn.</a:t>
              </a:r>
            </a:p>
          </p:txBody>
        </p:sp>
      </p:grpSp>
      <p:sp>
        <p:nvSpPr>
          <p:cNvPr id="228" name="Circle"/>
          <p:cNvSpPr/>
          <p:nvPr/>
        </p:nvSpPr>
        <p:spPr>
          <a:xfrm>
            <a:off x="666750" y="3000375"/>
            <a:ext cx="85726" cy="85726"/>
          </a:xfrm>
          <a:prstGeom prst="ellipse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31" name="Group"/>
          <p:cNvGrpSpPr/>
          <p:nvPr/>
        </p:nvGrpSpPr>
        <p:grpSpPr>
          <a:xfrm>
            <a:off x="895350" y="2914650"/>
            <a:ext cx="5095875" cy="400050"/>
            <a:chOff x="0" y="0"/>
            <a:chExt cx="5095875" cy="400050"/>
          </a:xfrm>
        </p:grpSpPr>
        <p:sp>
          <p:nvSpPr>
            <p:cNvPr id="229" name="Rectangle"/>
            <p:cNvSpPr/>
            <p:nvPr/>
          </p:nvSpPr>
          <p:spPr>
            <a:xfrm>
              <a:off x="0" y="0"/>
              <a:ext cx="5095875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0" name="Customers without online security or technical support churn more."/>
            <p:cNvSpPr txBox="1"/>
            <p:nvPr/>
          </p:nvSpPr>
          <p:spPr>
            <a:xfrm>
              <a:off x="0" y="0"/>
              <a:ext cx="5095875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Customers without online security or technical support churn more.</a:t>
              </a:r>
            </a:p>
          </p:txBody>
        </p:sp>
      </p:grpSp>
      <p:sp>
        <p:nvSpPr>
          <p:cNvPr id="232" name="Circle"/>
          <p:cNvSpPr/>
          <p:nvPr/>
        </p:nvSpPr>
        <p:spPr>
          <a:xfrm>
            <a:off x="666750" y="3552825"/>
            <a:ext cx="85726" cy="85726"/>
          </a:xfrm>
          <a:prstGeom prst="ellipse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35" name="Group"/>
          <p:cNvGrpSpPr/>
          <p:nvPr/>
        </p:nvGrpSpPr>
        <p:grpSpPr>
          <a:xfrm>
            <a:off x="895350" y="3467100"/>
            <a:ext cx="5095875" cy="400050"/>
            <a:chOff x="0" y="0"/>
            <a:chExt cx="5095875" cy="400050"/>
          </a:xfrm>
        </p:grpSpPr>
        <p:sp>
          <p:nvSpPr>
            <p:cNvPr id="233" name="Rectangle"/>
            <p:cNvSpPr/>
            <p:nvPr/>
          </p:nvSpPr>
          <p:spPr>
            <a:xfrm>
              <a:off x="0" y="0"/>
              <a:ext cx="5095875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4" name="Electronic check payment is associated with higher churn."/>
            <p:cNvSpPr txBox="1"/>
            <p:nvPr/>
          </p:nvSpPr>
          <p:spPr>
            <a:xfrm>
              <a:off x="0" y="0"/>
              <a:ext cx="5095875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Electronic check payment is associated with higher churn.</a:t>
              </a:r>
            </a:p>
          </p:txBody>
        </p:sp>
      </p:grpSp>
      <p:sp>
        <p:nvSpPr>
          <p:cNvPr id="236" name="Circle"/>
          <p:cNvSpPr/>
          <p:nvPr/>
        </p:nvSpPr>
        <p:spPr>
          <a:xfrm>
            <a:off x="666750" y="4105275"/>
            <a:ext cx="85726" cy="85726"/>
          </a:xfrm>
          <a:prstGeom prst="ellipse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39" name="Group"/>
          <p:cNvGrpSpPr/>
          <p:nvPr/>
        </p:nvGrpSpPr>
        <p:grpSpPr>
          <a:xfrm>
            <a:off x="895350" y="4019550"/>
            <a:ext cx="5095875" cy="400050"/>
            <a:chOff x="0" y="0"/>
            <a:chExt cx="5095875" cy="400050"/>
          </a:xfrm>
        </p:grpSpPr>
        <p:sp>
          <p:nvSpPr>
            <p:cNvPr id="237" name="Rectangle"/>
            <p:cNvSpPr/>
            <p:nvPr/>
          </p:nvSpPr>
          <p:spPr>
            <a:xfrm>
              <a:off x="0" y="0"/>
              <a:ext cx="5095875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8" name="Shorter-tenure customers are more vulnerable."/>
            <p:cNvSpPr txBox="1"/>
            <p:nvPr/>
          </p:nvSpPr>
          <p:spPr>
            <a:xfrm>
              <a:off x="0" y="0"/>
              <a:ext cx="5095875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Shorter-tenure customers are more vulnerable.</a:t>
              </a:r>
            </a:p>
          </p:txBody>
        </p:sp>
      </p:grpSp>
      <p:sp>
        <p:nvSpPr>
          <p:cNvPr id="240" name="Rectangle"/>
          <p:cNvSpPr/>
          <p:nvPr/>
        </p:nvSpPr>
        <p:spPr>
          <a:xfrm>
            <a:off x="6858000" y="1428750"/>
            <a:ext cx="4095750" cy="10668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1" name="Rectangle"/>
          <p:cNvSpPr/>
          <p:nvPr/>
        </p:nvSpPr>
        <p:spPr>
          <a:xfrm>
            <a:off x="6858000" y="1428750"/>
            <a:ext cx="76200" cy="1066800"/>
          </a:xfrm>
          <a:prstGeom prst="rect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44" name="Group"/>
          <p:cNvGrpSpPr/>
          <p:nvPr/>
        </p:nvGrpSpPr>
        <p:grpSpPr>
          <a:xfrm>
            <a:off x="7143750" y="1638300"/>
            <a:ext cx="1619250" cy="238125"/>
            <a:chOff x="0" y="0"/>
            <a:chExt cx="1619250" cy="238125"/>
          </a:xfrm>
        </p:grpSpPr>
        <p:sp>
          <p:nvSpPr>
            <p:cNvPr id="242" name="Rectangle"/>
            <p:cNvSpPr/>
            <p:nvPr/>
          </p:nvSpPr>
          <p:spPr>
            <a:xfrm>
              <a:off x="0" y="0"/>
              <a:ext cx="1619250" cy="2381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3" name="Contract"/>
            <p:cNvSpPr txBox="1"/>
            <p:nvPr/>
          </p:nvSpPr>
          <p:spPr>
            <a:xfrm>
              <a:off x="0" y="0"/>
              <a:ext cx="16192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Contract</a:t>
              </a:r>
            </a:p>
          </p:txBody>
        </p:sp>
      </p:grpSp>
      <p:grpSp>
        <p:nvGrpSpPr>
          <p:cNvPr id="247" name="Group"/>
          <p:cNvGrpSpPr/>
          <p:nvPr/>
        </p:nvGrpSpPr>
        <p:grpSpPr>
          <a:xfrm>
            <a:off x="7143750" y="1924050"/>
            <a:ext cx="3333750" cy="419100"/>
            <a:chOff x="0" y="0"/>
            <a:chExt cx="3333750" cy="419100"/>
          </a:xfrm>
        </p:grpSpPr>
        <p:sp>
          <p:nvSpPr>
            <p:cNvPr id="245" name="Rectangle"/>
            <p:cNvSpPr/>
            <p:nvPr/>
          </p:nvSpPr>
          <p:spPr>
            <a:xfrm>
              <a:off x="0" y="0"/>
              <a:ext cx="333375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6" name="Month-to-month customers churn more often"/>
            <p:cNvSpPr txBox="1"/>
            <p:nvPr/>
          </p:nvSpPr>
          <p:spPr>
            <a:xfrm>
              <a:off x="0" y="0"/>
              <a:ext cx="333375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Month-to-month customers churn more often</a:t>
              </a:r>
            </a:p>
          </p:txBody>
        </p:sp>
      </p:grpSp>
      <p:sp>
        <p:nvSpPr>
          <p:cNvPr id="248" name="Rectangle"/>
          <p:cNvSpPr/>
          <p:nvPr/>
        </p:nvSpPr>
        <p:spPr>
          <a:xfrm>
            <a:off x="6858000" y="2809875"/>
            <a:ext cx="4095750" cy="10668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9" name="Rectangle"/>
          <p:cNvSpPr/>
          <p:nvPr/>
        </p:nvSpPr>
        <p:spPr>
          <a:xfrm>
            <a:off x="6858000" y="2809875"/>
            <a:ext cx="76200" cy="1066800"/>
          </a:xfrm>
          <a:prstGeom prst="rect">
            <a:avLst/>
          </a:prstGeom>
          <a:solidFill>
            <a:srgbClr val="C4453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52" name="Group"/>
          <p:cNvGrpSpPr/>
          <p:nvPr/>
        </p:nvGrpSpPr>
        <p:grpSpPr>
          <a:xfrm>
            <a:off x="7143750" y="3019425"/>
            <a:ext cx="1619250" cy="238125"/>
            <a:chOff x="0" y="0"/>
            <a:chExt cx="1619250" cy="238125"/>
          </a:xfrm>
        </p:grpSpPr>
        <p:sp>
          <p:nvSpPr>
            <p:cNvPr id="250" name="Rectangle"/>
            <p:cNvSpPr/>
            <p:nvPr/>
          </p:nvSpPr>
          <p:spPr>
            <a:xfrm>
              <a:off x="0" y="0"/>
              <a:ext cx="1619250" cy="2381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1" name="Support"/>
            <p:cNvSpPr txBox="1"/>
            <p:nvPr/>
          </p:nvSpPr>
          <p:spPr>
            <a:xfrm>
              <a:off x="0" y="0"/>
              <a:ext cx="16192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Support</a:t>
              </a:r>
            </a:p>
          </p:txBody>
        </p:sp>
      </p:grpSp>
      <p:grpSp>
        <p:nvGrpSpPr>
          <p:cNvPr id="255" name="Group"/>
          <p:cNvGrpSpPr/>
          <p:nvPr/>
        </p:nvGrpSpPr>
        <p:grpSpPr>
          <a:xfrm>
            <a:off x="7143750" y="3305175"/>
            <a:ext cx="3333750" cy="419100"/>
            <a:chOff x="0" y="0"/>
            <a:chExt cx="3333750" cy="419100"/>
          </a:xfrm>
        </p:grpSpPr>
        <p:sp>
          <p:nvSpPr>
            <p:cNvPr id="253" name="Rectangle"/>
            <p:cNvSpPr/>
            <p:nvPr/>
          </p:nvSpPr>
          <p:spPr>
            <a:xfrm>
              <a:off x="0" y="0"/>
              <a:ext cx="333375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4" name="No tech support / online security increases risk"/>
            <p:cNvSpPr txBox="1"/>
            <p:nvPr/>
          </p:nvSpPr>
          <p:spPr>
            <a:xfrm>
              <a:off x="0" y="0"/>
              <a:ext cx="333375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No tech support / online security increases risk</a:t>
              </a:r>
            </a:p>
          </p:txBody>
        </p:sp>
      </p:grpSp>
      <p:sp>
        <p:nvSpPr>
          <p:cNvPr id="256" name="Rectangle"/>
          <p:cNvSpPr/>
          <p:nvPr/>
        </p:nvSpPr>
        <p:spPr>
          <a:xfrm>
            <a:off x="6858000" y="4191000"/>
            <a:ext cx="4095750" cy="10668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7" name="Rectangle"/>
          <p:cNvSpPr/>
          <p:nvPr/>
        </p:nvSpPr>
        <p:spPr>
          <a:xfrm>
            <a:off x="6858000" y="4191000"/>
            <a:ext cx="76200" cy="1066800"/>
          </a:xfrm>
          <a:prstGeom prst="rect">
            <a:avLst/>
          </a:prstGeom>
          <a:solidFill>
            <a:srgbClr val="2A9D8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60" name="Group"/>
          <p:cNvGrpSpPr/>
          <p:nvPr/>
        </p:nvGrpSpPr>
        <p:grpSpPr>
          <a:xfrm>
            <a:off x="7143750" y="4400550"/>
            <a:ext cx="1619250" cy="238125"/>
            <a:chOff x="0" y="0"/>
            <a:chExt cx="1619250" cy="238125"/>
          </a:xfrm>
        </p:grpSpPr>
        <p:sp>
          <p:nvSpPr>
            <p:cNvPr id="258" name="Rectangle"/>
            <p:cNvSpPr/>
            <p:nvPr/>
          </p:nvSpPr>
          <p:spPr>
            <a:xfrm>
              <a:off x="0" y="0"/>
              <a:ext cx="1619250" cy="2381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2A9D8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9" name="Payment"/>
            <p:cNvSpPr txBox="1"/>
            <p:nvPr/>
          </p:nvSpPr>
          <p:spPr>
            <a:xfrm>
              <a:off x="0" y="0"/>
              <a:ext cx="16192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2A9D8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Payment</a:t>
              </a:r>
            </a:p>
          </p:txBody>
        </p:sp>
      </p:grpSp>
      <p:grpSp>
        <p:nvGrpSpPr>
          <p:cNvPr id="263" name="Group"/>
          <p:cNvGrpSpPr/>
          <p:nvPr/>
        </p:nvGrpSpPr>
        <p:grpSpPr>
          <a:xfrm>
            <a:off x="7143750" y="4686300"/>
            <a:ext cx="3333750" cy="419100"/>
            <a:chOff x="0" y="0"/>
            <a:chExt cx="3333750" cy="419100"/>
          </a:xfrm>
        </p:grpSpPr>
        <p:sp>
          <p:nvSpPr>
            <p:cNvPr id="261" name="Rectangle"/>
            <p:cNvSpPr/>
            <p:nvPr/>
          </p:nvSpPr>
          <p:spPr>
            <a:xfrm>
              <a:off x="0" y="0"/>
              <a:ext cx="333375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2" name="Electronic check users stand out as higher risk"/>
            <p:cNvSpPr txBox="1"/>
            <p:nvPr/>
          </p:nvSpPr>
          <p:spPr>
            <a:xfrm>
              <a:off x="0" y="0"/>
              <a:ext cx="333375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Electronic check users stand out as higher risk</a:t>
              </a:r>
            </a:p>
          </p:txBody>
        </p:sp>
      </p:grpSp>
      <p:sp>
        <p:nvSpPr>
          <p:cNvPr id="264" name="Rectangle"/>
          <p:cNvSpPr/>
          <p:nvPr/>
        </p:nvSpPr>
        <p:spPr>
          <a:xfrm>
            <a:off x="6858000" y="5619750"/>
            <a:ext cx="4095750" cy="28575"/>
          </a:xfrm>
          <a:prstGeom prst="rect">
            <a:avLst/>
          </a:prstGeom>
          <a:solidFill>
            <a:srgbClr val="D9E1E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67" name="Group"/>
          <p:cNvGrpSpPr/>
          <p:nvPr/>
        </p:nvGrpSpPr>
        <p:grpSpPr>
          <a:xfrm>
            <a:off x="6858000" y="5753100"/>
            <a:ext cx="4095750" cy="514350"/>
            <a:chOff x="0" y="0"/>
            <a:chExt cx="4095750" cy="514350"/>
          </a:xfrm>
        </p:grpSpPr>
        <p:sp>
          <p:nvSpPr>
            <p:cNvPr id="265" name="Rectangle"/>
            <p:cNvSpPr/>
            <p:nvPr/>
          </p:nvSpPr>
          <p:spPr>
            <a:xfrm>
              <a:off x="0" y="0"/>
              <a:ext cx="4095750" cy="5143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6" name="These patterns motivated engineered variables such as service counts, automatic payment, contract indicators, and tenure groups."/>
            <p:cNvSpPr txBox="1"/>
            <p:nvPr/>
          </p:nvSpPr>
          <p:spPr>
            <a:xfrm>
              <a:off x="0" y="0"/>
              <a:ext cx="4095750" cy="45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These patterns motivated engineered variables such as service counts, automatic payment, contract indicators, and tenure groups.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0" name="Rectangle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73" name="Group"/>
          <p:cNvGrpSpPr/>
          <p:nvPr/>
        </p:nvGrpSpPr>
        <p:grpSpPr>
          <a:xfrm>
            <a:off x="609600" y="342900"/>
            <a:ext cx="8001000" cy="533400"/>
            <a:chOff x="0" y="0"/>
            <a:chExt cx="8001000" cy="533400"/>
          </a:xfrm>
        </p:grpSpPr>
        <p:sp>
          <p:nvSpPr>
            <p:cNvPr id="271" name="Rectangle"/>
            <p:cNvSpPr/>
            <p:nvPr/>
          </p:nvSpPr>
          <p:spPr>
            <a:xfrm>
              <a:off x="0" y="0"/>
              <a:ext cx="80010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9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2" name="Model comparison"/>
            <p:cNvSpPr txBox="1"/>
            <p:nvPr/>
          </p:nvSpPr>
          <p:spPr>
            <a:xfrm>
              <a:off x="0" y="0"/>
              <a:ext cx="8001000" cy="2715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9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Model comparison</a:t>
              </a:r>
            </a:p>
          </p:txBody>
        </p:sp>
      </p:grpSp>
      <p:grpSp>
        <p:nvGrpSpPr>
          <p:cNvPr id="276" name="Group"/>
          <p:cNvGrpSpPr/>
          <p:nvPr/>
        </p:nvGrpSpPr>
        <p:grpSpPr>
          <a:xfrm>
            <a:off x="8686800" y="6334125"/>
            <a:ext cx="2857500" cy="228600"/>
            <a:chOff x="0" y="0"/>
            <a:chExt cx="2857500" cy="228600"/>
          </a:xfrm>
        </p:grpSpPr>
        <p:sp>
          <p:nvSpPr>
            <p:cNvPr id="274" name="Rectangle"/>
            <p:cNvSpPr/>
            <p:nvPr/>
          </p:nvSpPr>
          <p:spPr>
            <a:xfrm>
              <a:off x="0" y="0"/>
              <a:ext cx="28575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5" name="Customer churn prediction | 06"/>
            <p:cNvSpPr txBox="1"/>
            <p:nvPr/>
          </p:nvSpPr>
          <p:spPr>
            <a:xfrm>
              <a:off x="0" y="0"/>
              <a:ext cx="28575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Customer churn prediction | 06</a:t>
              </a:r>
            </a:p>
          </p:txBody>
        </p:sp>
      </p:grpSp>
      <p:grpSp>
        <p:nvGrpSpPr>
          <p:cNvPr id="279" name="Group"/>
          <p:cNvGrpSpPr/>
          <p:nvPr/>
        </p:nvGrpSpPr>
        <p:grpSpPr>
          <a:xfrm>
            <a:off x="609600" y="1028700"/>
            <a:ext cx="7048500" cy="438150"/>
            <a:chOff x="0" y="0"/>
            <a:chExt cx="7048500" cy="438150"/>
          </a:xfrm>
        </p:grpSpPr>
        <p:sp>
          <p:nvSpPr>
            <p:cNvPr id="277" name="Rectangle"/>
            <p:cNvSpPr/>
            <p:nvPr/>
          </p:nvSpPr>
          <p:spPr>
            <a:xfrm>
              <a:off x="0" y="0"/>
              <a:ext cx="7048500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8" name="The selected model balances precision and recall for the churn class"/>
            <p:cNvSpPr txBox="1"/>
            <p:nvPr/>
          </p:nvSpPr>
          <p:spPr>
            <a:xfrm>
              <a:off x="0" y="0"/>
              <a:ext cx="70485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selected model balances precision and recall for the churn class</a:t>
              </a:r>
            </a:p>
          </p:txBody>
        </p:sp>
      </p:grpSp>
      <p:sp>
        <p:nvSpPr>
          <p:cNvPr id="280" name="Rectangle"/>
          <p:cNvSpPr/>
          <p:nvPr/>
        </p:nvSpPr>
        <p:spPr>
          <a:xfrm>
            <a:off x="876300" y="1657350"/>
            <a:ext cx="2619375" cy="419100"/>
          </a:xfrm>
          <a:prstGeom prst="rect">
            <a:avLst/>
          </a:prstGeom>
          <a:solidFill>
            <a:srgbClr val="19727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83" name="Group"/>
          <p:cNvGrpSpPr/>
          <p:nvPr/>
        </p:nvGrpSpPr>
        <p:grpSpPr>
          <a:xfrm>
            <a:off x="952500" y="1743075"/>
            <a:ext cx="2466975" cy="266700"/>
            <a:chOff x="0" y="0"/>
            <a:chExt cx="2466975" cy="266700"/>
          </a:xfrm>
        </p:grpSpPr>
        <p:sp>
          <p:nvSpPr>
            <p:cNvPr id="281" name="Rectangle"/>
            <p:cNvSpPr/>
            <p:nvPr/>
          </p:nvSpPr>
          <p:spPr>
            <a:xfrm>
              <a:off x="0" y="0"/>
              <a:ext cx="2466975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2" name="Model"/>
            <p:cNvSpPr txBox="1"/>
            <p:nvPr/>
          </p:nvSpPr>
          <p:spPr>
            <a:xfrm>
              <a:off x="0" y="0"/>
              <a:ext cx="246697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Model</a:t>
              </a:r>
            </a:p>
          </p:txBody>
        </p:sp>
      </p:grpSp>
      <p:sp>
        <p:nvSpPr>
          <p:cNvPr id="284" name="Rectangle"/>
          <p:cNvSpPr/>
          <p:nvPr/>
        </p:nvSpPr>
        <p:spPr>
          <a:xfrm>
            <a:off x="3495675" y="1657350"/>
            <a:ext cx="1381125" cy="419100"/>
          </a:xfrm>
          <a:prstGeom prst="rect">
            <a:avLst/>
          </a:prstGeom>
          <a:solidFill>
            <a:srgbClr val="19727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87" name="Group"/>
          <p:cNvGrpSpPr/>
          <p:nvPr/>
        </p:nvGrpSpPr>
        <p:grpSpPr>
          <a:xfrm>
            <a:off x="3571875" y="1743075"/>
            <a:ext cx="1228725" cy="266700"/>
            <a:chOff x="0" y="0"/>
            <a:chExt cx="1228725" cy="266700"/>
          </a:xfrm>
        </p:grpSpPr>
        <p:sp>
          <p:nvSpPr>
            <p:cNvPr id="285" name="Rectangle"/>
            <p:cNvSpPr/>
            <p:nvPr/>
          </p:nvSpPr>
          <p:spPr>
            <a:xfrm>
              <a:off x="0" y="0"/>
              <a:ext cx="1228725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6" name="Precision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Precision</a:t>
              </a:r>
            </a:p>
          </p:txBody>
        </p:sp>
      </p:grpSp>
      <p:sp>
        <p:nvSpPr>
          <p:cNvPr id="288" name="Rectangle"/>
          <p:cNvSpPr/>
          <p:nvPr/>
        </p:nvSpPr>
        <p:spPr>
          <a:xfrm>
            <a:off x="4876800" y="1657350"/>
            <a:ext cx="1381125" cy="419100"/>
          </a:xfrm>
          <a:prstGeom prst="rect">
            <a:avLst/>
          </a:prstGeom>
          <a:solidFill>
            <a:srgbClr val="19727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91" name="Group"/>
          <p:cNvGrpSpPr/>
          <p:nvPr/>
        </p:nvGrpSpPr>
        <p:grpSpPr>
          <a:xfrm>
            <a:off x="4953000" y="1743075"/>
            <a:ext cx="1228725" cy="266700"/>
            <a:chOff x="0" y="0"/>
            <a:chExt cx="1228725" cy="266700"/>
          </a:xfrm>
        </p:grpSpPr>
        <p:sp>
          <p:nvSpPr>
            <p:cNvPr id="289" name="Rectangle"/>
            <p:cNvSpPr/>
            <p:nvPr/>
          </p:nvSpPr>
          <p:spPr>
            <a:xfrm>
              <a:off x="0" y="0"/>
              <a:ext cx="1228725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0" name="Recall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Recall</a:t>
              </a:r>
            </a:p>
          </p:txBody>
        </p:sp>
      </p:grpSp>
      <p:sp>
        <p:nvSpPr>
          <p:cNvPr id="292" name="Rectangle"/>
          <p:cNvSpPr/>
          <p:nvPr/>
        </p:nvSpPr>
        <p:spPr>
          <a:xfrm>
            <a:off x="6257925" y="1657350"/>
            <a:ext cx="1381125" cy="419100"/>
          </a:xfrm>
          <a:prstGeom prst="rect">
            <a:avLst/>
          </a:prstGeom>
          <a:solidFill>
            <a:srgbClr val="19727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95" name="Group"/>
          <p:cNvGrpSpPr/>
          <p:nvPr/>
        </p:nvGrpSpPr>
        <p:grpSpPr>
          <a:xfrm>
            <a:off x="6334125" y="1743075"/>
            <a:ext cx="1228725" cy="266700"/>
            <a:chOff x="0" y="0"/>
            <a:chExt cx="1228725" cy="266700"/>
          </a:xfrm>
        </p:grpSpPr>
        <p:sp>
          <p:nvSpPr>
            <p:cNvPr id="293" name="Rectangle"/>
            <p:cNvSpPr/>
            <p:nvPr/>
          </p:nvSpPr>
          <p:spPr>
            <a:xfrm>
              <a:off x="0" y="0"/>
              <a:ext cx="1228725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4" name="F1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F1</a:t>
              </a:r>
            </a:p>
          </p:txBody>
        </p:sp>
      </p:grpSp>
      <p:sp>
        <p:nvSpPr>
          <p:cNvPr id="296" name="Rectangle"/>
          <p:cNvSpPr/>
          <p:nvPr/>
        </p:nvSpPr>
        <p:spPr>
          <a:xfrm>
            <a:off x="7639050" y="1657350"/>
            <a:ext cx="1381125" cy="419100"/>
          </a:xfrm>
          <a:prstGeom prst="rect">
            <a:avLst/>
          </a:prstGeom>
          <a:solidFill>
            <a:srgbClr val="19727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99" name="Group"/>
          <p:cNvGrpSpPr/>
          <p:nvPr/>
        </p:nvGrpSpPr>
        <p:grpSpPr>
          <a:xfrm>
            <a:off x="7715250" y="1743075"/>
            <a:ext cx="1228725" cy="266700"/>
            <a:chOff x="0" y="0"/>
            <a:chExt cx="1228725" cy="266700"/>
          </a:xfrm>
        </p:grpSpPr>
        <p:sp>
          <p:nvSpPr>
            <p:cNvPr id="297" name="Rectangle"/>
            <p:cNvSpPr/>
            <p:nvPr/>
          </p:nvSpPr>
          <p:spPr>
            <a:xfrm>
              <a:off x="0" y="0"/>
              <a:ext cx="1228725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8" name="ROC-AUC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ROC-AUC</a:t>
              </a:r>
            </a:p>
          </p:txBody>
        </p:sp>
      </p:grpSp>
      <p:sp>
        <p:nvSpPr>
          <p:cNvPr id="300" name="Rectangle"/>
          <p:cNvSpPr/>
          <p:nvPr/>
        </p:nvSpPr>
        <p:spPr>
          <a:xfrm>
            <a:off x="876300" y="2076450"/>
            <a:ext cx="261937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03" name="Group"/>
          <p:cNvGrpSpPr/>
          <p:nvPr/>
        </p:nvGrpSpPr>
        <p:grpSpPr>
          <a:xfrm>
            <a:off x="952500" y="2162175"/>
            <a:ext cx="2466975" cy="361950"/>
            <a:chOff x="0" y="0"/>
            <a:chExt cx="2466975" cy="361950"/>
          </a:xfrm>
        </p:grpSpPr>
        <p:sp>
          <p:nvSpPr>
            <p:cNvPr id="301" name="Rectangle"/>
            <p:cNvSpPr/>
            <p:nvPr/>
          </p:nvSpPr>
          <p:spPr>
            <a:xfrm>
              <a:off x="0" y="0"/>
              <a:ext cx="246697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02" name="Logistic Regression"/>
            <p:cNvSpPr txBox="1"/>
            <p:nvPr/>
          </p:nvSpPr>
          <p:spPr>
            <a:xfrm>
              <a:off x="0" y="0"/>
              <a:ext cx="246697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Logistic Regression</a:t>
              </a:r>
            </a:p>
          </p:txBody>
        </p:sp>
      </p:grpSp>
      <p:sp>
        <p:nvSpPr>
          <p:cNvPr id="304" name="Rectangle"/>
          <p:cNvSpPr/>
          <p:nvPr/>
        </p:nvSpPr>
        <p:spPr>
          <a:xfrm>
            <a:off x="3495675" y="2076450"/>
            <a:ext cx="138112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07" name="Group"/>
          <p:cNvGrpSpPr/>
          <p:nvPr/>
        </p:nvGrpSpPr>
        <p:grpSpPr>
          <a:xfrm>
            <a:off x="3571875" y="2162175"/>
            <a:ext cx="1228725" cy="361950"/>
            <a:chOff x="0" y="0"/>
            <a:chExt cx="1228725" cy="361950"/>
          </a:xfrm>
        </p:grpSpPr>
        <p:sp>
          <p:nvSpPr>
            <p:cNvPr id="305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06" name="0.6361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0.6361</a:t>
              </a:r>
            </a:p>
          </p:txBody>
        </p:sp>
      </p:grpSp>
      <p:sp>
        <p:nvSpPr>
          <p:cNvPr id="308" name="Rectangle"/>
          <p:cNvSpPr/>
          <p:nvPr/>
        </p:nvSpPr>
        <p:spPr>
          <a:xfrm>
            <a:off x="4876800" y="2076450"/>
            <a:ext cx="138112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11" name="Group"/>
          <p:cNvGrpSpPr/>
          <p:nvPr/>
        </p:nvGrpSpPr>
        <p:grpSpPr>
          <a:xfrm>
            <a:off x="4953000" y="2162175"/>
            <a:ext cx="1228725" cy="361950"/>
            <a:chOff x="0" y="0"/>
            <a:chExt cx="1228725" cy="361950"/>
          </a:xfrm>
        </p:grpSpPr>
        <p:sp>
          <p:nvSpPr>
            <p:cNvPr id="309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0" name="0.5374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0.5374</a:t>
              </a:r>
            </a:p>
          </p:txBody>
        </p:sp>
      </p:grpSp>
      <p:sp>
        <p:nvSpPr>
          <p:cNvPr id="312" name="Rectangle"/>
          <p:cNvSpPr/>
          <p:nvPr/>
        </p:nvSpPr>
        <p:spPr>
          <a:xfrm>
            <a:off x="6257925" y="2076450"/>
            <a:ext cx="138112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15" name="Group"/>
          <p:cNvGrpSpPr/>
          <p:nvPr/>
        </p:nvGrpSpPr>
        <p:grpSpPr>
          <a:xfrm>
            <a:off x="6334125" y="2162175"/>
            <a:ext cx="1228725" cy="361950"/>
            <a:chOff x="0" y="0"/>
            <a:chExt cx="1228725" cy="361950"/>
          </a:xfrm>
        </p:grpSpPr>
        <p:sp>
          <p:nvSpPr>
            <p:cNvPr id="313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4" name="0.5826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0.5826</a:t>
              </a:r>
            </a:p>
          </p:txBody>
        </p:sp>
      </p:grpSp>
      <p:sp>
        <p:nvSpPr>
          <p:cNvPr id="316" name="Rectangle"/>
          <p:cNvSpPr/>
          <p:nvPr/>
        </p:nvSpPr>
        <p:spPr>
          <a:xfrm>
            <a:off x="7639050" y="2076450"/>
            <a:ext cx="138112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19" name="Group"/>
          <p:cNvGrpSpPr/>
          <p:nvPr/>
        </p:nvGrpSpPr>
        <p:grpSpPr>
          <a:xfrm>
            <a:off x="7715250" y="2162175"/>
            <a:ext cx="1228725" cy="361950"/>
            <a:chOff x="0" y="0"/>
            <a:chExt cx="1228725" cy="361950"/>
          </a:xfrm>
        </p:grpSpPr>
        <p:sp>
          <p:nvSpPr>
            <p:cNvPr id="317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8" name="0.8342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0.8342</a:t>
              </a:r>
            </a:p>
          </p:txBody>
        </p:sp>
      </p:grpSp>
      <p:sp>
        <p:nvSpPr>
          <p:cNvPr id="320" name="Rectangle"/>
          <p:cNvSpPr/>
          <p:nvPr/>
        </p:nvSpPr>
        <p:spPr>
          <a:xfrm>
            <a:off x="876300" y="2590800"/>
            <a:ext cx="261937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23" name="Group"/>
          <p:cNvGrpSpPr/>
          <p:nvPr/>
        </p:nvGrpSpPr>
        <p:grpSpPr>
          <a:xfrm>
            <a:off x="952500" y="2676525"/>
            <a:ext cx="2466975" cy="361950"/>
            <a:chOff x="0" y="0"/>
            <a:chExt cx="2466975" cy="361950"/>
          </a:xfrm>
        </p:grpSpPr>
        <p:sp>
          <p:nvSpPr>
            <p:cNvPr id="321" name="Rectangle"/>
            <p:cNvSpPr/>
            <p:nvPr/>
          </p:nvSpPr>
          <p:spPr>
            <a:xfrm>
              <a:off x="0" y="0"/>
              <a:ext cx="246697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2" name="Decision Tree"/>
            <p:cNvSpPr txBox="1"/>
            <p:nvPr/>
          </p:nvSpPr>
          <p:spPr>
            <a:xfrm>
              <a:off x="0" y="0"/>
              <a:ext cx="246697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Decision Tree</a:t>
              </a:r>
            </a:p>
          </p:txBody>
        </p:sp>
      </p:grpSp>
      <p:sp>
        <p:nvSpPr>
          <p:cNvPr id="324" name="Rectangle"/>
          <p:cNvSpPr/>
          <p:nvPr/>
        </p:nvSpPr>
        <p:spPr>
          <a:xfrm>
            <a:off x="3495675" y="2590800"/>
            <a:ext cx="138112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27" name="Group"/>
          <p:cNvGrpSpPr/>
          <p:nvPr/>
        </p:nvGrpSpPr>
        <p:grpSpPr>
          <a:xfrm>
            <a:off x="3571875" y="2676525"/>
            <a:ext cx="1228725" cy="361950"/>
            <a:chOff x="0" y="0"/>
            <a:chExt cx="1228725" cy="361950"/>
          </a:xfrm>
        </p:grpSpPr>
        <p:sp>
          <p:nvSpPr>
            <p:cNvPr id="325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6" name="0.4991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0.4991</a:t>
              </a:r>
            </a:p>
          </p:txBody>
        </p:sp>
      </p:grpSp>
      <p:sp>
        <p:nvSpPr>
          <p:cNvPr id="328" name="Rectangle"/>
          <p:cNvSpPr/>
          <p:nvPr/>
        </p:nvSpPr>
        <p:spPr>
          <a:xfrm>
            <a:off x="4876800" y="2590800"/>
            <a:ext cx="138112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31" name="Group"/>
          <p:cNvGrpSpPr/>
          <p:nvPr/>
        </p:nvGrpSpPr>
        <p:grpSpPr>
          <a:xfrm>
            <a:off x="4953000" y="2676525"/>
            <a:ext cx="1228725" cy="361950"/>
            <a:chOff x="0" y="0"/>
            <a:chExt cx="1228725" cy="361950"/>
          </a:xfrm>
        </p:grpSpPr>
        <p:sp>
          <p:nvSpPr>
            <p:cNvPr id="329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0" name="0.7754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0.7754</a:t>
              </a:r>
            </a:p>
          </p:txBody>
        </p:sp>
      </p:grpSp>
      <p:sp>
        <p:nvSpPr>
          <p:cNvPr id="332" name="Rectangle"/>
          <p:cNvSpPr/>
          <p:nvPr/>
        </p:nvSpPr>
        <p:spPr>
          <a:xfrm>
            <a:off x="6257925" y="2590800"/>
            <a:ext cx="138112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35" name="Group"/>
          <p:cNvGrpSpPr/>
          <p:nvPr/>
        </p:nvGrpSpPr>
        <p:grpSpPr>
          <a:xfrm>
            <a:off x="6334125" y="2676525"/>
            <a:ext cx="1228725" cy="361950"/>
            <a:chOff x="0" y="0"/>
            <a:chExt cx="1228725" cy="361950"/>
          </a:xfrm>
        </p:grpSpPr>
        <p:sp>
          <p:nvSpPr>
            <p:cNvPr id="333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4" name="0.6073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0.6073</a:t>
              </a:r>
            </a:p>
          </p:txBody>
        </p:sp>
      </p:grpSp>
      <p:sp>
        <p:nvSpPr>
          <p:cNvPr id="336" name="Rectangle"/>
          <p:cNvSpPr/>
          <p:nvPr/>
        </p:nvSpPr>
        <p:spPr>
          <a:xfrm>
            <a:off x="7639050" y="2590800"/>
            <a:ext cx="138112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39" name="Group"/>
          <p:cNvGrpSpPr/>
          <p:nvPr/>
        </p:nvGrpSpPr>
        <p:grpSpPr>
          <a:xfrm>
            <a:off x="7715250" y="2676525"/>
            <a:ext cx="1228725" cy="361950"/>
            <a:chOff x="0" y="0"/>
            <a:chExt cx="1228725" cy="361950"/>
          </a:xfrm>
        </p:grpSpPr>
        <p:sp>
          <p:nvSpPr>
            <p:cNvPr id="337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8" name="0.8173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0.8173</a:t>
              </a:r>
            </a:p>
          </p:txBody>
        </p:sp>
      </p:grpSp>
      <p:sp>
        <p:nvSpPr>
          <p:cNvPr id="340" name="Rectangle"/>
          <p:cNvSpPr/>
          <p:nvPr/>
        </p:nvSpPr>
        <p:spPr>
          <a:xfrm>
            <a:off x="876300" y="3105150"/>
            <a:ext cx="261937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43" name="Group"/>
          <p:cNvGrpSpPr/>
          <p:nvPr/>
        </p:nvGrpSpPr>
        <p:grpSpPr>
          <a:xfrm>
            <a:off x="952500" y="3190875"/>
            <a:ext cx="2466975" cy="361950"/>
            <a:chOff x="0" y="0"/>
            <a:chExt cx="2466975" cy="361950"/>
          </a:xfrm>
        </p:grpSpPr>
        <p:sp>
          <p:nvSpPr>
            <p:cNvPr id="341" name="Rectangle"/>
            <p:cNvSpPr/>
            <p:nvPr/>
          </p:nvSpPr>
          <p:spPr>
            <a:xfrm>
              <a:off x="0" y="0"/>
              <a:ext cx="246697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2" name="Gaussian NB"/>
            <p:cNvSpPr txBox="1"/>
            <p:nvPr/>
          </p:nvSpPr>
          <p:spPr>
            <a:xfrm>
              <a:off x="0" y="0"/>
              <a:ext cx="246697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Gaussian NB</a:t>
              </a:r>
            </a:p>
          </p:txBody>
        </p:sp>
      </p:grpSp>
      <p:sp>
        <p:nvSpPr>
          <p:cNvPr id="344" name="Rectangle"/>
          <p:cNvSpPr/>
          <p:nvPr/>
        </p:nvSpPr>
        <p:spPr>
          <a:xfrm>
            <a:off x="3495675" y="3105150"/>
            <a:ext cx="138112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47" name="Group"/>
          <p:cNvGrpSpPr/>
          <p:nvPr/>
        </p:nvGrpSpPr>
        <p:grpSpPr>
          <a:xfrm>
            <a:off x="3571875" y="3190875"/>
            <a:ext cx="1228725" cy="361950"/>
            <a:chOff x="0" y="0"/>
            <a:chExt cx="1228725" cy="361950"/>
          </a:xfrm>
        </p:grpSpPr>
        <p:sp>
          <p:nvSpPr>
            <p:cNvPr id="345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6" name="0.4654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0.4654</a:t>
              </a:r>
            </a:p>
          </p:txBody>
        </p:sp>
      </p:grpSp>
      <p:sp>
        <p:nvSpPr>
          <p:cNvPr id="348" name="Rectangle"/>
          <p:cNvSpPr/>
          <p:nvPr/>
        </p:nvSpPr>
        <p:spPr>
          <a:xfrm>
            <a:off x="4876800" y="3105150"/>
            <a:ext cx="138112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51" name="Group"/>
          <p:cNvGrpSpPr/>
          <p:nvPr/>
        </p:nvGrpSpPr>
        <p:grpSpPr>
          <a:xfrm>
            <a:off x="4953000" y="3190875"/>
            <a:ext cx="1228725" cy="361950"/>
            <a:chOff x="0" y="0"/>
            <a:chExt cx="1228725" cy="361950"/>
          </a:xfrm>
        </p:grpSpPr>
        <p:sp>
          <p:nvSpPr>
            <p:cNvPr id="349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0" name="0.8102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0.8102</a:t>
              </a:r>
            </a:p>
          </p:txBody>
        </p:sp>
      </p:grpSp>
      <p:sp>
        <p:nvSpPr>
          <p:cNvPr id="352" name="Rectangle"/>
          <p:cNvSpPr/>
          <p:nvPr/>
        </p:nvSpPr>
        <p:spPr>
          <a:xfrm>
            <a:off x="6257925" y="3105150"/>
            <a:ext cx="138112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55" name="Group"/>
          <p:cNvGrpSpPr/>
          <p:nvPr/>
        </p:nvGrpSpPr>
        <p:grpSpPr>
          <a:xfrm>
            <a:off x="6334125" y="3190875"/>
            <a:ext cx="1228725" cy="361950"/>
            <a:chOff x="0" y="0"/>
            <a:chExt cx="1228725" cy="361950"/>
          </a:xfrm>
        </p:grpSpPr>
        <p:sp>
          <p:nvSpPr>
            <p:cNvPr id="353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4" name="0.5912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0.5912</a:t>
              </a:r>
            </a:p>
          </p:txBody>
        </p:sp>
      </p:grpSp>
      <p:sp>
        <p:nvSpPr>
          <p:cNvPr id="356" name="Rectangle"/>
          <p:cNvSpPr/>
          <p:nvPr/>
        </p:nvSpPr>
        <p:spPr>
          <a:xfrm>
            <a:off x="7639050" y="3105150"/>
            <a:ext cx="1381125" cy="514350"/>
          </a:xfrm>
          <a:prstGeom prst="rect">
            <a:avLst/>
          </a:prstGeom>
          <a:solidFill>
            <a:srgbClr val="FFFFFF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59" name="Group"/>
          <p:cNvGrpSpPr/>
          <p:nvPr/>
        </p:nvGrpSpPr>
        <p:grpSpPr>
          <a:xfrm>
            <a:off x="7715250" y="3190875"/>
            <a:ext cx="1228725" cy="361950"/>
            <a:chOff x="0" y="0"/>
            <a:chExt cx="1228725" cy="361950"/>
          </a:xfrm>
        </p:grpSpPr>
        <p:sp>
          <p:nvSpPr>
            <p:cNvPr id="357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8" name="0.8088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0.8088</a:t>
              </a:r>
            </a:p>
          </p:txBody>
        </p:sp>
      </p:grpSp>
      <p:sp>
        <p:nvSpPr>
          <p:cNvPr id="360" name="Rectangle"/>
          <p:cNvSpPr/>
          <p:nvPr/>
        </p:nvSpPr>
        <p:spPr>
          <a:xfrm>
            <a:off x="876300" y="3619500"/>
            <a:ext cx="2619375" cy="514350"/>
          </a:xfrm>
          <a:prstGeom prst="rect">
            <a:avLst/>
          </a:prstGeom>
          <a:solidFill>
            <a:srgbClr val="EAF5F3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63" name="Group"/>
          <p:cNvGrpSpPr/>
          <p:nvPr/>
        </p:nvGrpSpPr>
        <p:grpSpPr>
          <a:xfrm>
            <a:off x="952500" y="3705225"/>
            <a:ext cx="2466975" cy="361950"/>
            <a:chOff x="0" y="0"/>
            <a:chExt cx="2466975" cy="361950"/>
          </a:xfrm>
        </p:grpSpPr>
        <p:sp>
          <p:nvSpPr>
            <p:cNvPr id="361" name="Rectangle"/>
            <p:cNvSpPr/>
            <p:nvPr/>
          </p:nvSpPr>
          <p:spPr>
            <a:xfrm>
              <a:off x="0" y="0"/>
              <a:ext cx="246697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62" name="Tuned Random Forest"/>
            <p:cNvSpPr txBox="1"/>
            <p:nvPr/>
          </p:nvSpPr>
          <p:spPr>
            <a:xfrm>
              <a:off x="0" y="0"/>
              <a:ext cx="246697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Tuned Random Forest</a:t>
              </a:r>
            </a:p>
          </p:txBody>
        </p:sp>
      </p:grpSp>
      <p:sp>
        <p:nvSpPr>
          <p:cNvPr id="364" name="Rectangle"/>
          <p:cNvSpPr/>
          <p:nvPr/>
        </p:nvSpPr>
        <p:spPr>
          <a:xfrm>
            <a:off x="3495675" y="3619500"/>
            <a:ext cx="1381125" cy="514350"/>
          </a:xfrm>
          <a:prstGeom prst="rect">
            <a:avLst/>
          </a:prstGeom>
          <a:solidFill>
            <a:srgbClr val="EAF5F3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67" name="Group"/>
          <p:cNvGrpSpPr/>
          <p:nvPr/>
        </p:nvGrpSpPr>
        <p:grpSpPr>
          <a:xfrm>
            <a:off x="3571875" y="3705225"/>
            <a:ext cx="1228725" cy="361950"/>
            <a:chOff x="0" y="0"/>
            <a:chExt cx="1228725" cy="361950"/>
          </a:xfrm>
        </p:grpSpPr>
        <p:sp>
          <p:nvSpPr>
            <p:cNvPr id="365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b="1"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66" name="0.5143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0.5143</a:t>
              </a:r>
            </a:p>
          </p:txBody>
        </p:sp>
      </p:grpSp>
      <p:sp>
        <p:nvSpPr>
          <p:cNvPr id="368" name="Rectangle"/>
          <p:cNvSpPr/>
          <p:nvPr/>
        </p:nvSpPr>
        <p:spPr>
          <a:xfrm>
            <a:off x="4876800" y="3619500"/>
            <a:ext cx="1381125" cy="514350"/>
          </a:xfrm>
          <a:prstGeom prst="rect">
            <a:avLst/>
          </a:prstGeom>
          <a:solidFill>
            <a:srgbClr val="EAF5F3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71" name="Group"/>
          <p:cNvGrpSpPr/>
          <p:nvPr/>
        </p:nvGrpSpPr>
        <p:grpSpPr>
          <a:xfrm>
            <a:off x="4953000" y="3705225"/>
            <a:ext cx="1228725" cy="361950"/>
            <a:chOff x="0" y="0"/>
            <a:chExt cx="1228725" cy="361950"/>
          </a:xfrm>
        </p:grpSpPr>
        <p:sp>
          <p:nvSpPr>
            <p:cNvPr id="369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b="1"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0" name="0.7701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0.7701</a:t>
              </a:r>
            </a:p>
          </p:txBody>
        </p:sp>
      </p:grpSp>
      <p:sp>
        <p:nvSpPr>
          <p:cNvPr id="372" name="Rectangle"/>
          <p:cNvSpPr/>
          <p:nvPr/>
        </p:nvSpPr>
        <p:spPr>
          <a:xfrm>
            <a:off x="6257925" y="3619500"/>
            <a:ext cx="1381125" cy="514350"/>
          </a:xfrm>
          <a:prstGeom prst="rect">
            <a:avLst/>
          </a:prstGeom>
          <a:solidFill>
            <a:srgbClr val="EAF5F3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75" name="Group"/>
          <p:cNvGrpSpPr/>
          <p:nvPr/>
        </p:nvGrpSpPr>
        <p:grpSpPr>
          <a:xfrm>
            <a:off x="6334125" y="3705225"/>
            <a:ext cx="1228725" cy="361950"/>
            <a:chOff x="0" y="0"/>
            <a:chExt cx="1228725" cy="361950"/>
          </a:xfrm>
        </p:grpSpPr>
        <p:sp>
          <p:nvSpPr>
            <p:cNvPr id="373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b="1"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4" name="0.6167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0.6167</a:t>
              </a:r>
            </a:p>
          </p:txBody>
        </p:sp>
      </p:grpSp>
      <p:sp>
        <p:nvSpPr>
          <p:cNvPr id="376" name="Rectangle"/>
          <p:cNvSpPr/>
          <p:nvPr/>
        </p:nvSpPr>
        <p:spPr>
          <a:xfrm>
            <a:off x="7639050" y="3619500"/>
            <a:ext cx="1381125" cy="514350"/>
          </a:xfrm>
          <a:prstGeom prst="rect">
            <a:avLst/>
          </a:prstGeom>
          <a:solidFill>
            <a:srgbClr val="EAF5F3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79" name="Group"/>
          <p:cNvGrpSpPr/>
          <p:nvPr/>
        </p:nvGrpSpPr>
        <p:grpSpPr>
          <a:xfrm>
            <a:off x="7715250" y="3705225"/>
            <a:ext cx="1228725" cy="361950"/>
            <a:chOff x="0" y="0"/>
            <a:chExt cx="1228725" cy="361950"/>
          </a:xfrm>
        </p:grpSpPr>
        <p:sp>
          <p:nvSpPr>
            <p:cNvPr id="377" name="Rectangle"/>
            <p:cNvSpPr/>
            <p:nvPr/>
          </p:nvSpPr>
          <p:spPr>
            <a:xfrm>
              <a:off x="0" y="0"/>
              <a:ext cx="1228725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b="1"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8" name="0.8333"/>
            <p:cNvSpPr txBox="1"/>
            <p:nvPr/>
          </p:nvSpPr>
          <p:spPr>
            <a:xfrm>
              <a:off x="0" y="0"/>
              <a:ext cx="12287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0.8333</a:t>
              </a:r>
            </a:p>
          </p:txBody>
        </p:sp>
      </p:grpSp>
      <p:sp>
        <p:nvSpPr>
          <p:cNvPr id="380" name="Rectangle"/>
          <p:cNvSpPr/>
          <p:nvPr/>
        </p:nvSpPr>
        <p:spPr>
          <a:xfrm>
            <a:off x="876300" y="4352925"/>
            <a:ext cx="8143875" cy="904875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83" name="Group"/>
          <p:cNvGrpSpPr/>
          <p:nvPr/>
        </p:nvGrpSpPr>
        <p:grpSpPr>
          <a:xfrm>
            <a:off x="1123950" y="4572000"/>
            <a:ext cx="1238250" cy="266700"/>
            <a:chOff x="0" y="0"/>
            <a:chExt cx="1238250" cy="266700"/>
          </a:xfrm>
        </p:grpSpPr>
        <p:sp>
          <p:nvSpPr>
            <p:cNvPr id="381" name="Rectangle"/>
            <p:cNvSpPr/>
            <p:nvPr/>
          </p:nvSpPr>
          <p:spPr>
            <a:xfrm>
              <a:off x="0" y="0"/>
              <a:ext cx="12382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2" name="Takeaway"/>
            <p:cNvSpPr txBox="1"/>
            <p:nvPr/>
          </p:nvSpPr>
          <p:spPr>
            <a:xfrm>
              <a:off x="0" y="0"/>
              <a:ext cx="12382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Takeaway</a:t>
              </a:r>
            </a:p>
          </p:txBody>
        </p:sp>
      </p:grpSp>
      <p:grpSp>
        <p:nvGrpSpPr>
          <p:cNvPr id="386" name="Group"/>
          <p:cNvGrpSpPr/>
          <p:nvPr/>
        </p:nvGrpSpPr>
        <p:grpSpPr>
          <a:xfrm>
            <a:off x="2381250" y="4495800"/>
            <a:ext cx="6286500" cy="647700"/>
            <a:chOff x="0" y="0"/>
            <a:chExt cx="6286500" cy="647700"/>
          </a:xfrm>
        </p:grpSpPr>
        <p:sp>
          <p:nvSpPr>
            <p:cNvPr id="384" name="Rectangle"/>
            <p:cNvSpPr/>
            <p:nvPr/>
          </p:nvSpPr>
          <p:spPr>
            <a:xfrm>
              <a:off x="0" y="0"/>
              <a:ext cx="6286500" cy="64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5" name="The tuned Random Forest produced the best final F1-score while preserving high churn recall. That means more actual churners are detected, at the cost of more false positives."/>
            <p:cNvSpPr txBox="1"/>
            <p:nvPr/>
          </p:nvSpPr>
          <p:spPr>
            <a:xfrm>
              <a:off x="0" y="0"/>
              <a:ext cx="6286500" cy="350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tuned Random Forest produced the best final F1-score while preserving high churn recall. That means more actual churners are detected, at the cost of more false positives.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9" name="Rectangle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92" name="Group"/>
          <p:cNvGrpSpPr/>
          <p:nvPr/>
        </p:nvGrpSpPr>
        <p:grpSpPr>
          <a:xfrm>
            <a:off x="609600" y="342900"/>
            <a:ext cx="8001000" cy="533400"/>
            <a:chOff x="0" y="0"/>
            <a:chExt cx="8001000" cy="533400"/>
          </a:xfrm>
        </p:grpSpPr>
        <p:sp>
          <p:nvSpPr>
            <p:cNvPr id="390" name="Rectangle"/>
            <p:cNvSpPr/>
            <p:nvPr/>
          </p:nvSpPr>
          <p:spPr>
            <a:xfrm>
              <a:off x="0" y="0"/>
              <a:ext cx="80010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9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1" name="Final tuned Random Forest"/>
            <p:cNvSpPr txBox="1"/>
            <p:nvPr/>
          </p:nvSpPr>
          <p:spPr>
            <a:xfrm>
              <a:off x="0" y="0"/>
              <a:ext cx="8001000" cy="2715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9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Final tuned Random Forest</a:t>
              </a:r>
            </a:p>
          </p:txBody>
        </p:sp>
      </p:grpSp>
      <p:grpSp>
        <p:nvGrpSpPr>
          <p:cNvPr id="395" name="Group"/>
          <p:cNvGrpSpPr/>
          <p:nvPr/>
        </p:nvGrpSpPr>
        <p:grpSpPr>
          <a:xfrm>
            <a:off x="8686800" y="6334125"/>
            <a:ext cx="2857500" cy="228600"/>
            <a:chOff x="0" y="0"/>
            <a:chExt cx="2857500" cy="228600"/>
          </a:xfrm>
        </p:grpSpPr>
        <p:sp>
          <p:nvSpPr>
            <p:cNvPr id="393" name="Rectangle"/>
            <p:cNvSpPr/>
            <p:nvPr/>
          </p:nvSpPr>
          <p:spPr>
            <a:xfrm>
              <a:off x="0" y="0"/>
              <a:ext cx="28575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4" name="Customer churn prediction | 07"/>
            <p:cNvSpPr txBox="1"/>
            <p:nvPr/>
          </p:nvSpPr>
          <p:spPr>
            <a:xfrm>
              <a:off x="0" y="0"/>
              <a:ext cx="28575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Customer churn prediction | 07</a:t>
              </a:r>
            </a:p>
          </p:txBody>
        </p:sp>
      </p:grpSp>
      <p:grpSp>
        <p:nvGrpSpPr>
          <p:cNvPr id="398" name="Group"/>
          <p:cNvGrpSpPr/>
          <p:nvPr/>
        </p:nvGrpSpPr>
        <p:grpSpPr>
          <a:xfrm>
            <a:off x="628650" y="1104900"/>
            <a:ext cx="5143500" cy="742950"/>
            <a:chOff x="0" y="0"/>
            <a:chExt cx="5143500" cy="742950"/>
          </a:xfrm>
        </p:grpSpPr>
        <p:sp>
          <p:nvSpPr>
            <p:cNvPr id="396" name="Rectangle"/>
            <p:cNvSpPr/>
            <p:nvPr/>
          </p:nvSpPr>
          <p:spPr>
            <a:xfrm>
              <a:off x="0" y="0"/>
              <a:ext cx="5143500" cy="742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7" name="The final model detects 77% of actual churners on the test set."/>
            <p:cNvSpPr txBox="1"/>
            <p:nvPr/>
          </p:nvSpPr>
          <p:spPr>
            <a:xfrm>
              <a:off x="0" y="0"/>
              <a:ext cx="5143500" cy="6008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final model detects 77% of actual churners on the test set.</a:t>
              </a:r>
            </a:p>
          </p:txBody>
        </p:sp>
      </p:grpSp>
      <p:sp>
        <p:nvSpPr>
          <p:cNvPr id="399" name="Rectangle"/>
          <p:cNvSpPr/>
          <p:nvPr/>
        </p:nvSpPr>
        <p:spPr>
          <a:xfrm>
            <a:off x="666750" y="2038350"/>
            <a:ext cx="1428750" cy="9144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02" name="Group"/>
          <p:cNvGrpSpPr/>
          <p:nvPr/>
        </p:nvGrpSpPr>
        <p:grpSpPr>
          <a:xfrm>
            <a:off x="819150" y="2190750"/>
            <a:ext cx="1123950" cy="361950"/>
            <a:chOff x="0" y="0"/>
            <a:chExt cx="1123950" cy="361950"/>
          </a:xfrm>
        </p:grpSpPr>
        <p:sp>
          <p:nvSpPr>
            <p:cNvPr id="400" name="Rectangle"/>
            <p:cNvSpPr/>
            <p:nvPr/>
          </p:nvSpPr>
          <p:spPr>
            <a:xfrm>
              <a:off x="0" y="0"/>
              <a:ext cx="11239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1" name="0.7456"/>
            <p:cNvSpPr txBox="1"/>
            <p:nvPr/>
          </p:nvSpPr>
          <p:spPr>
            <a:xfrm>
              <a:off x="0" y="0"/>
              <a:ext cx="1123950" cy="296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0.7456</a:t>
              </a:r>
            </a:p>
          </p:txBody>
        </p:sp>
      </p:grpSp>
      <p:grpSp>
        <p:nvGrpSpPr>
          <p:cNvPr id="405" name="Group"/>
          <p:cNvGrpSpPr/>
          <p:nvPr/>
        </p:nvGrpSpPr>
        <p:grpSpPr>
          <a:xfrm>
            <a:off x="819150" y="2590800"/>
            <a:ext cx="1123950" cy="247650"/>
            <a:chOff x="0" y="0"/>
            <a:chExt cx="1123950" cy="247650"/>
          </a:xfrm>
        </p:grpSpPr>
        <p:sp>
          <p:nvSpPr>
            <p:cNvPr id="403" name="Rectangle"/>
            <p:cNvSpPr/>
            <p:nvPr/>
          </p:nvSpPr>
          <p:spPr>
            <a:xfrm>
              <a:off x="0" y="0"/>
              <a:ext cx="1123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4" name="accuracy"/>
            <p:cNvSpPr txBox="1"/>
            <p:nvPr/>
          </p:nvSpPr>
          <p:spPr>
            <a:xfrm>
              <a:off x="0" y="0"/>
              <a:ext cx="11239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accuracy</a:t>
              </a:r>
            </a:p>
          </p:txBody>
        </p:sp>
      </p:grpSp>
      <p:sp>
        <p:nvSpPr>
          <p:cNvPr id="406" name="Rectangle"/>
          <p:cNvSpPr/>
          <p:nvPr/>
        </p:nvSpPr>
        <p:spPr>
          <a:xfrm>
            <a:off x="2305050" y="2038350"/>
            <a:ext cx="1428750" cy="9144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09" name="Group"/>
          <p:cNvGrpSpPr/>
          <p:nvPr/>
        </p:nvGrpSpPr>
        <p:grpSpPr>
          <a:xfrm>
            <a:off x="2457450" y="2190750"/>
            <a:ext cx="1123950" cy="361950"/>
            <a:chOff x="0" y="0"/>
            <a:chExt cx="1123950" cy="361950"/>
          </a:xfrm>
        </p:grpSpPr>
        <p:sp>
          <p:nvSpPr>
            <p:cNvPr id="407" name="Rectangle"/>
            <p:cNvSpPr/>
            <p:nvPr/>
          </p:nvSpPr>
          <p:spPr>
            <a:xfrm>
              <a:off x="0" y="0"/>
              <a:ext cx="11239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1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8" name="0.5143"/>
            <p:cNvSpPr txBox="1"/>
            <p:nvPr/>
          </p:nvSpPr>
          <p:spPr>
            <a:xfrm>
              <a:off x="0" y="0"/>
              <a:ext cx="1123950" cy="296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1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0.5143</a:t>
              </a:r>
            </a:p>
          </p:txBody>
        </p:sp>
      </p:grpSp>
      <p:grpSp>
        <p:nvGrpSpPr>
          <p:cNvPr id="412" name="Group"/>
          <p:cNvGrpSpPr/>
          <p:nvPr/>
        </p:nvGrpSpPr>
        <p:grpSpPr>
          <a:xfrm>
            <a:off x="2457450" y="2590800"/>
            <a:ext cx="1123950" cy="247650"/>
            <a:chOff x="0" y="0"/>
            <a:chExt cx="1123950" cy="247650"/>
          </a:xfrm>
        </p:grpSpPr>
        <p:sp>
          <p:nvSpPr>
            <p:cNvPr id="410" name="Rectangle"/>
            <p:cNvSpPr/>
            <p:nvPr/>
          </p:nvSpPr>
          <p:spPr>
            <a:xfrm>
              <a:off x="0" y="0"/>
              <a:ext cx="1123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1" name="precision"/>
            <p:cNvSpPr txBox="1"/>
            <p:nvPr/>
          </p:nvSpPr>
          <p:spPr>
            <a:xfrm>
              <a:off x="0" y="0"/>
              <a:ext cx="11239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precision</a:t>
              </a:r>
            </a:p>
          </p:txBody>
        </p:sp>
      </p:grpSp>
      <p:sp>
        <p:nvSpPr>
          <p:cNvPr id="413" name="Rectangle"/>
          <p:cNvSpPr/>
          <p:nvPr/>
        </p:nvSpPr>
        <p:spPr>
          <a:xfrm>
            <a:off x="3943350" y="2038350"/>
            <a:ext cx="1428750" cy="9144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16" name="Group"/>
          <p:cNvGrpSpPr/>
          <p:nvPr/>
        </p:nvGrpSpPr>
        <p:grpSpPr>
          <a:xfrm>
            <a:off x="4095750" y="2190750"/>
            <a:ext cx="1123950" cy="361950"/>
            <a:chOff x="0" y="0"/>
            <a:chExt cx="1123950" cy="361950"/>
          </a:xfrm>
        </p:grpSpPr>
        <p:sp>
          <p:nvSpPr>
            <p:cNvPr id="414" name="Rectangle"/>
            <p:cNvSpPr/>
            <p:nvPr/>
          </p:nvSpPr>
          <p:spPr>
            <a:xfrm>
              <a:off x="0" y="0"/>
              <a:ext cx="11239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1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5" name="0.7701"/>
            <p:cNvSpPr txBox="1"/>
            <p:nvPr/>
          </p:nvSpPr>
          <p:spPr>
            <a:xfrm>
              <a:off x="0" y="0"/>
              <a:ext cx="1123950" cy="296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1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0.7701</a:t>
              </a:r>
            </a:p>
          </p:txBody>
        </p:sp>
      </p:grpSp>
      <p:grpSp>
        <p:nvGrpSpPr>
          <p:cNvPr id="419" name="Group"/>
          <p:cNvGrpSpPr/>
          <p:nvPr/>
        </p:nvGrpSpPr>
        <p:grpSpPr>
          <a:xfrm>
            <a:off x="4095750" y="2590800"/>
            <a:ext cx="1123950" cy="247650"/>
            <a:chOff x="0" y="0"/>
            <a:chExt cx="1123950" cy="247650"/>
          </a:xfrm>
        </p:grpSpPr>
        <p:sp>
          <p:nvSpPr>
            <p:cNvPr id="417" name="Rectangle"/>
            <p:cNvSpPr/>
            <p:nvPr/>
          </p:nvSpPr>
          <p:spPr>
            <a:xfrm>
              <a:off x="0" y="0"/>
              <a:ext cx="1123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8" name="recall"/>
            <p:cNvSpPr txBox="1"/>
            <p:nvPr/>
          </p:nvSpPr>
          <p:spPr>
            <a:xfrm>
              <a:off x="0" y="0"/>
              <a:ext cx="11239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recall</a:t>
              </a:r>
            </a:p>
          </p:txBody>
        </p:sp>
      </p:grpSp>
      <p:sp>
        <p:nvSpPr>
          <p:cNvPr id="420" name="Rectangle"/>
          <p:cNvSpPr/>
          <p:nvPr/>
        </p:nvSpPr>
        <p:spPr>
          <a:xfrm>
            <a:off x="666750" y="3209925"/>
            <a:ext cx="1428750" cy="9144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23" name="Group"/>
          <p:cNvGrpSpPr/>
          <p:nvPr/>
        </p:nvGrpSpPr>
        <p:grpSpPr>
          <a:xfrm>
            <a:off x="819150" y="3362325"/>
            <a:ext cx="1123950" cy="361950"/>
            <a:chOff x="0" y="0"/>
            <a:chExt cx="1123950" cy="361950"/>
          </a:xfrm>
        </p:grpSpPr>
        <p:sp>
          <p:nvSpPr>
            <p:cNvPr id="421" name="Rectangle"/>
            <p:cNvSpPr/>
            <p:nvPr/>
          </p:nvSpPr>
          <p:spPr>
            <a:xfrm>
              <a:off x="0" y="0"/>
              <a:ext cx="11239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100">
                  <a:solidFill>
                    <a:srgbClr val="2A9D8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2" name="0.6167"/>
            <p:cNvSpPr txBox="1"/>
            <p:nvPr/>
          </p:nvSpPr>
          <p:spPr>
            <a:xfrm>
              <a:off x="0" y="0"/>
              <a:ext cx="1123950" cy="296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100">
                  <a:solidFill>
                    <a:srgbClr val="2A9D8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0.6167</a:t>
              </a:r>
            </a:p>
          </p:txBody>
        </p:sp>
      </p:grpSp>
      <p:grpSp>
        <p:nvGrpSpPr>
          <p:cNvPr id="426" name="Group"/>
          <p:cNvGrpSpPr/>
          <p:nvPr/>
        </p:nvGrpSpPr>
        <p:grpSpPr>
          <a:xfrm>
            <a:off x="819150" y="3762375"/>
            <a:ext cx="1123950" cy="247650"/>
            <a:chOff x="0" y="0"/>
            <a:chExt cx="1123950" cy="247650"/>
          </a:xfrm>
        </p:grpSpPr>
        <p:sp>
          <p:nvSpPr>
            <p:cNvPr id="424" name="Rectangle"/>
            <p:cNvSpPr/>
            <p:nvPr/>
          </p:nvSpPr>
          <p:spPr>
            <a:xfrm>
              <a:off x="0" y="0"/>
              <a:ext cx="1123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5" name="F1-score"/>
            <p:cNvSpPr txBox="1"/>
            <p:nvPr/>
          </p:nvSpPr>
          <p:spPr>
            <a:xfrm>
              <a:off x="0" y="0"/>
              <a:ext cx="11239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F1-score</a:t>
              </a:r>
            </a:p>
          </p:txBody>
        </p:sp>
      </p:grpSp>
      <p:sp>
        <p:nvSpPr>
          <p:cNvPr id="427" name="Rectangle"/>
          <p:cNvSpPr/>
          <p:nvPr/>
        </p:nvSpPr>
        <p:spPr>
          <a:xfrm>
            <a:off x="2305050" y="3209925"/>
            <a:ext cx="1428750" cy="9144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30" name="Group"/>
          <p:cNvGrpSpPr/>
          <p:nvPr/>
        </p:nvGrpSpPr>
        <p:grpSpPr>
          <a:xfrm>
            <a:off x="2457450" y="3362325"/>
            <a:ext cx="1123950" cy="361950"/>
            <a:chOff x="0" y="0"/>
            <a:chExt cx="1123950" cy="361950"/>
          </a:xfrm>
        </p:grpSpPr>
        <p:sp>
          <p:nvSpPr>
            <p:cNvPr id="428" name="Rectangle"/>
            <p:cNvSpPr/>
            <p:nvPr/>
          </p:nvSpPr>
          <p:spPr>
            <a:xfrm>
              <a:off x="0" y="0"/>
              <a:ext cx="11239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1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9" name="0.8333"/>
            <p:cNvSpPr txBox="1"/>
            <p:nvPr/>
          </p:nvSpPr>
          <p:spPr>
            <a:xfrm>
              <a:off x="0" y="0"/>
              <a:ext cx="1123950" cy="296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1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0.8333</a:t>
              </a:r>
            </a:p>
          </p:txBody>
        </p:sp>
      </p:grpSp>
      <p:grpSp>
        <p:nvGrpSpPr>
          <p:cNvPr id="433" name="Group"/>
          <p:cNvGrpSpPr/>
          <p:nvPr/>
        </p:nvGrpSpPr>
        <p:grpSpPr>
          <a:xfrm>
            <a:off x="2457450" y="3762375"/>
            <a:ext cx="1123950" cy="247650"/>
            <a:chOff x="0" y="0"/>
            <a:chExt cx="1123950" cy="247650"/>
          </a:xfrm>
        </p:grpSpPr>
        <p:sp>
          <p:nvSpPr>
            <p:cNvPr id="431" name="Rectangle"/>
            <p:cNvSpPr/>
            <p:nvPr/>
          </p:nvSpPr>
          <p:spPr>
            <a:xfrm>
              <a:off x="0" y="0"/>
              <a:ext cx="1123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2" name="ROC-AUC"/>
            <p:cNvSpPr txBox="1"/>
            <p:nvPr/>
          </p:nvSpPr>
          <p:spPr>
            <a:xfrm>
              <a:off x="0" y="0"/>
              <a:ext cx="11239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ROC-AUC</a:t>
              </a:r>
            </a:p>
          </p:txBody>
        </p:sp>
      </p:grpSp>
      <p:sp>
        <p:nvSpPr>
          <p:cNvPr id="434" name="Rectangle"/>
          <p:cNvSpPr/>
          <p:nvPr/>
        </p:nvSpPr>
        <p:spPr>
          <a:xfrm>
            <a:off x="3943350" y="3209925"/>
            <a:ext cx="1428750" cy="914400"/>
          </a:xfrm>
          <a:prstGeom prst="rect">
            <a:avLst/>
          </a:prstGeom>
          <a:solidFill>
            <a:srgbClr val="F6F8F8"/>
          </a:solidFill>
          <a:ln>
            <a:solidFill>
              <a:srgbClr val="D9E1E2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37" name="Group"/>
          <p:cNvGrpSpPr/>
          <p:nvPr/>
        </p:nvGrpSpPr>
        <p:grpSpPr>
          <a:xfrm>
            <a:off x="4095750" y="3362325"/>
            <a:ext cx="1123950" cy="361950"/>
            <a:chOff x="0" y="0"/>
            <a:chExt cx="1123950" cy="361950"/>
          </a:xfrm>
        </p:grpSpPr>
        <p:sp>
          <p:nvSpPr>
            <p:cNvPr id="435" name="Rectangle"/>
            <p:cNvSpPr/>
            <p:nvPr/>
          </p:nvSpPr>
          <p:spPr>
            <a:xfrm>
              <a:off x="0" y="0"/>
              <a:ext cx="11239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6" name="400"/>
            <p:cNvSpPr txBox="1"/>
            <p:nvPr/>
          </p:nvSpPr>
          <p:spPr>
            <a:xfrm>
              <a:off x="0" y="0"/>
              <a:ext cx="1123950" cy="296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1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400</a:t>
              </a:r>
            </a:p>
          </p:txBody>
        </p:sp>
      </p:grpSp>
      <p:grpSp>
        <p:nvGrpSpPr>
          <p:cNvPr id="440" name="Group"/>
          <p:cNvGrpSpPr/>
          <p:nvPr/>
        </p:nvGrpSpPr>
        <p:grpSpPr>
          <a:xfrm>
            <a:off x="4095750" y="3762375"/>
            <a:ext cx="1123950" cy="247650"/>
            <a:chOff x="0" y="0"/>
            <a:chExt cx="1123950" cy="247650"/>
          </a:xfrm>
        </p:grpSpPr>
        <p:sp>
          <p:nvSpPr>
            <p:cNvPr id="438" name="Rectangle"/>
            <p:cNvSpPr/>
            <p:nvPr/>
          </p:nvSpPr>
          <p:spPr>
            <a:xfrm>
              <a:off x="0" y="0"/>
              <a:ext cx="1123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9" name="trees"/>
            <p:cNvSpPr txBox="1"/>
            <p:nvPr/>
          </p:nvSpPr>
          <p:spPr>
            <a:xfrm>
              <a:off x="0" y="0"/>
              <a:ext cx="11239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trees</a:t>
              </a:r>
            </a:p>
          </p:txBody>
        </p:sp>
      </p:grpSp>
      <p:grpSp>
        <p:nvGrpSpPr>
          <p:cNvPr id="443" name="Group"/>
          <p:cNvGrpSpPr/>
          <p:nvPr/>
        </p:nvGrpSpPr>
        <p:grpSpPr>
          <a:xfrm>
            <a:off x="666750" y="4905375"/>
            <a:ext cx="4762500" cy="571500"/>
            <a:chOff x="0" y="0"/>
            <a:chExt cx="4762500" cy="571500"/>
          </a:xfrm>
        </p:grpSpPr>
        <p:sp>
          <p:nvSpPr>
            <p:cNvPr id="441" name="Rectangle"/>
            <p:cNvSpPr/>
            <p:nvPr/>
          </p:nvSpPr>
          <p:spPr>
            <a:xfrm>
              <a:off x="0" y="0"/>
              <a:ext cx="4762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5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2" name="This is a retention-friendly trade-off when contacting extra at-risk customers is acceptable."/>
            <p:cNvSpPr txBox="1"/>
            <p:nvPr/>
          </p:nvSpPr>
          <p:spPr>
            <a:xfrm>
              <a:off x="0" y="0"/>
              <a:ext cx="4762500" cy="425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5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This is a retention-friendly trade-off when contacting extra at-risk customers is acceptable.</a:t>
              </a:r>
            </a:p>
          </p:txBody>
        </p:sp>
      </p:grpSp>
      <p:pic>
        <p:nvPicPr>
          <p:cNvPr id="444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91250" y="1317384"/>
            <a:ext cx="3333750" cy="2623032"/>
          </a:xfrm>
          <a:prstGeom prst="rect">
            <a:avLst/>
          </a:prstGeom>
          <a:ln w="12700">
            <a:miter lim="400000"/>
          </a:ln>
        </p:spPr>
      </p:pic>
      <p:pic>
        <p:nvPicPr>
          <p:cNvPr id="445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53550" y="1608062"/>
            <a:ext cx="1952625" cy="19845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8" name="Rectangle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51" name="Group"/>
          <p:cNvGrpSpPr/>
          <p:nvPr/>
        </p:nvGrpSpPr>
        <p:grpSpPr>
          <a:xfrm>
            <a:off x="609600" y="342900"/>
            <a:ext cx="8001000" cy="533400"/>
            <a:chOff x="0" y="0"/>
            <a:chExt cx="8001000" cy="533400"/>
          </a:xfrm>
        </p:grpSpPr>
        <p:sp>
          <p:nvSpPr>
            <p:cNvPr id="449" name="Rectangle"/>
            <p:cNvSpPr/>
            <p:nvPr/>
          </p:nvSpPr>
          <p:spPr>
            <a:xfrm>
              <a:off x="0" y="0"/>
              <a:ext cx="80010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9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50" name="Interpretation and next steps"/>
            <p:cNvSpPr txBox="1"/>
            <p:nvPr/>
          </p:nvSpPr>
          <p:spPr>
            <a:xfrm>
              <a:off x="0" y="0"/>
              <a:ext cx="8001000" cy="2715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9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Interpretation and next steps</a:t>
              </a:r>
            </a:p>
          </p:txBody>
        </p:sp>
      </p:grpSp>
      <p:grpSp>
        <p:nvGrpSpPr>
          <p:cNvPr id="454" name="Group"/>
          <p:cNvGrpSpPr/>
          <p:nvPr/>
        </p:nvGrpSpPr>
        <p:grpSpPr>
          <a:xfrm>
            <a:off x="8686800" y="6334125"/>
            <a:ext cx="2857500" cy="228600"/>
            <a:chOff x="0" y="0"/>
            <a:chExt cx="2857500" cy="228600"/>
          </a:xfrm>
        </p:grpSpPr>
        <p:sp>
          <p:nvSpPr>
            <p:cNvPr id="452" name="Rectangle"/>
            <p:cNvSpPr/>
            <p:nvPr/>
          </p:nvSpPr>
          <p:spPr>
            <a:xfrm>
              <a:off x="0" y="0"/>
              <a:ext cx="28575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53" name="Customer churn prediction | 08"/>
            <p:cNvSpPr txBox="1"/>
            <p:nvPr/>
          </p:nvSpPr>
          <p:spPr>
            <a:xfrm>
              <a:off x="0" y="0"/>
              <a:ext cx="28575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5F6C7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Customer churn prediction | 08</a:t>
              </a:r>
            </a:p>
          </p:txBody>
        </p:sp>
      </p:grpSp>
      <p:grpSp>
        <p:nvGrpSpPr>
          <p:cNvPr id="457" name="Group"/>
          <p:cNvGrpSpPr/>
          <p:nvPr/>
        </p:nvGrpSpPr>
        <p:grpSpPr>
          <a:xfrm>
            <a:off x="628650" y="1104900"/>
            <a:ext cx="5048250" cy="838200"/>
            <a:chOff x="0" y="0"/>
            <a:chExt cx="5048250" cy="838200"/>
          </a:xfrm>
        </p:grpSpPr>
        <p:sp>
          <p:nvSpPr>
            <p:cNvPr id="455" name="Rectangle"/>
            <p:cNvSpPr/>
            <p:nvPr/>
          </p:nvSpPr>
          <p:spPr>
            <a:xfrm>
              <a:off x="0" y="0"/>
              <a:ext cx="5048250" cy="8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0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56" name="The strongest churn signals are interpretable and useful beyond prediction."/>
            <p:cNvSpPr/>
            <p:nvPr/>
          </p:nvSpPr>
          <p:spPr>
            <a:xfrm>
              <a:off x="0" y="0"/>
              <a:ext cx="5048250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0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strongest churn signals are interpretable and useful beyond prediction.</a:t>
              </a:r>
            </a:p>
          </p:txBody>
        </p:sp>
      </p:grpSp>
      <p:grpSp>
        <p:nvGrpSpPr>
          <p:cNvPr id="460" name="Group"/>
          <p:cNvGrpSpPr/>
          <p:nvPr/>
        </p:nvGrpSpPr>
        <p:grpSpPr>
          <a:xfrm>
            <a:off x="666750" y="2143125"/>
            <a:ext cx="2667000" cy="285750"/>
            <a:chOff x="0" y="0"/>
            <a:chExt cx="2667000" cy="285750"/>
          </a:xfrm>
        </p:grpSpPr>
        <p:sp>
          <p:nvSpPr>
            <p:cNvPr id="458" name="Rectangle"/>
            <p:cNvSpPr/>
            <p:nvPr/>
          </p:nvSpPr>
          <p:spPr>
            <a:xfrm>
              <a:off x="0" y="0"/>
              <a:ext cx="26670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59" name="Consistent indicators"/>
            <p:cNvSpPr txBox="1"/>
            <p:nvPr/>
          </p:nvSpPr>
          <p:spPr>
            <a:xfrm>
              <a:off x="0" y="0"/>
              <a:ext cx="26670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19727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Consistent indicators</a:t>
              </a:r>
            </a:p>
          </p:txBody>
        </p:sp>
      </p:grpSp>
      <p:sp>
        <p:nvSpPr>
          <p:cNvPr id="461" name="Circle"/>
          <p:cNvSpPr/>
          <p:nvPr/>
        </p:nvSpPr>
        <p:spPr>
          <a:xfrm>
            <a:off x="704850" y="2733675"/>
            <a:ext cx="85726" cy="85726"/>
          </a:xfrm>
          <a:prstGeom prst="ellipse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64" name="Group"/>
          <p:cNvGrpSpPr/>
          <p:nvPr/>
        </p:nvGrpSpPr>
        <p:grpSpPr>
          <a:xfrm>
            <a:off x="933450" y="2647950"/>
            <a:ext cx="4000500" cy="400050"/>
            <a:chOff x="0" y="0"/>
            <a:chExt cx="4000500" cy="400050"/>
          </a:xfrm>
        </p:grpSpPr>
        <p:sp>
          <p:nvSpPr>
            <p:cNvPr id="462" name="Rectangle"/>
            <p:cNvSpPr/>
            <p:nvPr/>
          </p:nvSpPr>
          <p:spPr>
            <a:xfrm>
              <a:off x="0" y="0"/>
              <a:ext cx="40005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3" name="Contract type and tenure"/>
            <p:cNvSpPr txBox="1"/>
            <p:nvPr/>
          </p:nvSpPr>
          <p:spPr>
            <a:xfrm>
              <a:off x="0" y="0"/>
              <a:ext cx="400050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Contract type and tenure</a:t>
              </a:r>
            </a:p>
          </p:txBody>
        </p:sp>
      </p:grpSp>
      <p:sp>
        <p:nvSpPr>
          <p:cNvPr id="465" name="Circle"/>
          <p:cNvSpPr/>
          <p:nvPr/>
        </p:nvSpPr>
        <p:spPr>
          <a:xfrm>
            <a:off x="704850" y="3171825"/>
            <a:ext cx="85726" cy="85726"/>
          </a:xfrm>
          <a:prstGeom prst="ellipse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68" name="Group"/>
          <p:cNvGrpSpPr/>
          <p:nvPr/>
        </p:nvGrpSpPr>
        <p:grpSpPr>
          <a:xfrm>
            <a:off x="933450" y="3086100"/>
            <a:ext cx="4000500" cy="400050"/>
            <a:chOff x="0" y="0"/>
            <a:chExt cx="4000500" cy="400050"/>
          </a:xfrm>
        </p:grpSpPr>
        <p:sp>
          <p:nvSpPr>
            <p:cNvPr id="466" name="Rectangle"/>
            <p:cNvSpPr/>
            <p:nvPr/>
          </p:nvSpPr>
          <p:spPr>
            <a:xfrm>
              <a:off x="0" y="0"/>
              <a:ext cx="40005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7" name="Support and security services"/>
            <p:cNvSpPr txBox="1"/>
            <p:nvPr/>
          </p:nvSpPr>
          <p:spPr>
            <a:xfrm>
              <a:off x="0" y="0"/>
              <a:ext cx="400050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Support and security services</a:t>
              </a:r>
            </a:p>
          </p:txBody>
        </p:sp>
      </p:grpSp>
      <p:sp>
        <p:nvSpPr>
          <p:cNvPr id="469" name="Circle"/>
          <p:cNvSpPr/>
          <p:nvPr/>
        </p:nvSpPr>
        <p:spPr>
          <a:xfrm>
            <a:off x="704850" y="3609975"/>
            <a:ext cx="85726" cy="85726"/>
          </a:xfrm>
          <a:prstGeom prst="ellipse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72" name="Group"/>
          <p:cNvGrpSpPr/>
          <p:nvPr/>
        </p:nvGrpSpPr>
        <p:grpSpPr>
          <a:xfrm>
            <a:off x="933450" y="3524250"/>
            <a:ext cx="4000500" cy="400050"/>
            <a:chOff x="0" y="0"/>
            <a:chExt cx="4000500" cy="400050"/>
          </a:xfrm>
        </p:grpSpPr>
        <p:sp>
          <p:nvSpPr>
            <p:cNvPr id="470" name="Rectangle"/>
            <p:cNvSpPr/>
            <p:nvPr/>
          </p:nvSpPr>
          <p:spPr>
            <a:xfrm>
              <a:off x="0" y="0"/>
              <a:ext cx="40005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1" name="Payment method"/>
            <p:cNvSpPr txBox="1"/>
            <p:nvPr/>
          </p:nvSpPr>
          <p:spPr>
            <a:xfrm>
              <a:off x="0" y="0"/>
              <a:ext cx="400050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Payment method</a:t>
              </a:r>
            </a:p>
          </p:txBody>
        </p:sp>
      </p:grpSp>
      <p:sp>
        <p:nvSpPr>
          <p:cNvPr id="473" name="Circle"/>
          <p:cNvSpPr/>
          <p:nvPr/>
        </p:nvSpPr>
        <p:spPr>
          <a:xfrm>
            <a:off x="704850" y="4048125"/>
            <a:ext cx="85726" cy="85726"/>
          </a:xfrm>
          <a:prstGeom prst="ellipse">
            <a:avLst/>
          </a:prstGeom>
          <a:solidFill>
            <a:srgbClr val="19727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76" name="Group"/>
          <p:cNvGrpSpPr/>
          <p:nvPr/>
        </p:nvGrpSpPr>
        <p:grpSpPr>
          <a:xfrm>
            <a:off x="933450" y="3962400"/>
            <a:ext cx="4000500" cy="400050"/>
            <a:chOff x="0" y="0"/>
            <a:chExt cx="4000500" cy="400050"/>
          </a:xfrm>
        </p:grpSpPr>
        <p:sp>
          <p:nvSpPr>
            <p:cNvPr id="474" name="Rectangle"/>
            <p:cNvSpPr/>
            <p:nvPr/>
          </p:nvSpPr>
          <p:spPr>
            <a:xfrm>
              <a:off x="0" y="0"/>
              <a:ext cx="40005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5" name="Billing intensity"/>
            <p:cNvSpPr txBox="1"/>
            <p:nvPr/>
          </p:nvSpPr>
          <p:spPr>
            <a:xfrm>
              <a:off x="0" y="0"/>
              <a:ext cx="400050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Billing intensity</a:t>
              </a:r>
            </a:p>
          </p:txBody>
        </p:sp>
      </p:grpSp>
      <p:grpSp>
        <p:nvGrpSpPr>
          <p:cNvPr id="479" name="Group"/>
          <p:cNvGrpSpPr/>
          <p:nvPr/>
        </p:nvGrpSpPr>
        <p:grpSpPr>
          <a:xfrm>
            <a:off x="666750" y="4695825"/>
            <a:ext cx="2667000" cy="285750"/>
            <a:chOff x="0" y="0"/>
            <a:chExt cx="2667000" cy="285750"/>
          </a:xfrm>
        </p:grpSpPr>
        <p:sp>
          <p:nvSpPr>
            <p:cNvPr id="477" name="Rectangle"/>
            <p:cNvSpPr/>
            <p:nvPr/>
          </p:nvSpPr>
          <p:spPr>
            <a:xfrm>
              <a:off x="0" y="0"/>
              <a:ext cx="26670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8" name="Future improvements"/>
            <p:cNvSpPr txBox="1"/>
            <p:nvPr/>
          </p:nvSpPr>
          <p:spPr>
            <a:xfrm>
              <a:off x="0" y="0"/>
              <a:ext cx="26670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C4453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Future improvements</a:t>
              </a:r>
            </a:p>
          </p:txBody>
        </p:sp>
      </p:grpSp>
      <p:sp>
        <p:nvSpPr>
          <p:cNvPr id="480" name="Circle"/>
          <p:cNvSpPr/>
          <p:nvPr/>
        </p:nvSpPr>
        <p:spPr>
          <a:xfrm>
            <a:off x="704850" y="5267325"/>
            <a:ext cx="85726" cy="85726"/>
          </a:xfrm>
          <a:prstGeom prst="ellipse">
            <a:avLst/>
          </a:prstGeom>
          <a:solidFill>
            <a:srgbClr val="C4453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83" name="Group"/>
          <p:cNvGrpSpPr/>
          <p:nvPr/>
        </p:nvGrpSpPr>
        <p:grpSpPr>
          <a:xfrm>
            <a:off x="933450" y="5181600"/>
            <a:ext cx="4000500" cy="400050"/>
            <a:chOff x="0" y="0"/>
            <a:chExt cx="4000500" cy="400050"/>
          </a:xfrm>
        </p:grpSpPr>
        <p:sp>
          <p:nvSpPr>
            <p:cNvPr id="481" name="Rectangle"/>
            <p:cNvSpPr/>
            <p:nvPr/>
          </p:nvSpPr>
          <p:spPr>
            <a:xfrm>
              <a:off x="0" y="0"/>
              <a:ext cx="40005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2" name="Time-based customer behavior"/>
            <p:cNvSpPr txBox="1"/>
            <p:nvPr/>
          </p:nvSpPr>
          <p:spPr>
            <a:xfrm>
              <a:off x="0" y="0"/>
              <a:ext cx="40005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Time-based customer behavior</a:t>
              </a:r>
            </a:p>
          </p:txBody>
        </p:sp>
      </p:grpSp>
      <p:sp>
        <p:nvSpPr>
          <p:cNvPr id="484" name="Circle"/>
          <p:cNvSpPr/>
          <p:nvPr/>
        </p:nvSpPr>
        <p:spPr>
          <a:xfrm>
            <a:off x="704850" y="5724525"/>
            <a:ext cx="85726" cy="85726"/>
          </a:xfrm>
          <a:prstGeom prst="ellipse">
            <a:avLst/>
          </a:prstGeom>
          <a:solidFill>
            <a:srgbClr val="C4453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87" name="Group"/>
          <p:cNvGrpSpPr/>
          <p:nvPr/>
        </p:nvGrpSpPr>
        <p:grpSpPr>
          <a:xfrm>
            <a:off x="933450" y="5638800"/>
            <a:ext cx="4000500" cy="400050"/>
            <a:chOff x="0" y="0"/>
            <a:chExt cx="4000500" cy="400050"/>
          </a:xfrm>
        </p:grpSpPr>
        <p:sp>
          <p:nvSpPr>
            <p:cNvPr id="485" name="Rectangle"/>
            <p:cNvSpPr/>
            <p:nvPr/>
          </p:nvSpPr>
          <p:spPr>
            <a:xfrm>
              <a:off x="0" y="0"/>
              <a:ext cx="40005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6" name="Cost-sensitive threshold tuning"/>
            <p:cNvSpPr txBox="1"/>
            <p:nvPr/>
          </p:nvSpPr>
          <p:spPr>
            <a:xfrm>
              <a:off x="0" y="0"/>
              <a:ext cx="40005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Cost-sensitive threshold tuning</a:t>
              </a:r>
            </a:p>
          </p:txBody>
        </p:sp>
      </p:grpSp>
      <p:sp>
        <p:nvSpPr>
          <p:cNvPr id="488" name="Circle"/>
          <p:cNvSpPr/>
          <p:nvPr/>
        </p:nvSpPr>
        <p:spPr>
          <a:xfrm>
            <a:off x="704850" y="6181725"/>
            <a:ext cx="85726" cy="85726"/>
          </a:xfrm>
          <a:prstGeom prst="ellipse">
            <a:avLst/>
          </a:prstGeom>
          <a:solidFill>
            <a:srgbClr val="C4453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91" name="Group"/>
          <p:cNvGrpSpPr/>
          <p:nvPr/>
        </p:nvGrpSpPr>
        <p:grpSpPr>
          <a:xfrm>
            <a:off x="933450" y="6096000"/>
            <a:ext cx="4000500" cy="400050"/>
            <a:chOff x="0" y="0"/>
            <a:chExt cx="4000500" cy="400050"/>
          </a:xfrm>
        </p:grpSpPr>
        <p:sp>
          <p:nvSpPr>
            <p:cNvPr id="489" name="Rectangle"/>
            <p:cNvSpPr/>
            <p:nvPr/>
          </p:nvSpPr>
          <p:spPr>
            <a:xfrm>
              <a:off x="0" y="0"/>
              <a:ext cx="40005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0" name="Calibration and scoring demo"/>
            <p:cNvSpPr txBox="1"/>
            <p:nvPr/>
          </p:nvSpPr>
          <p:spPr>
            <a:xfrm>
              <a:off x="0" y="0"/>
              <a:ext cx="40005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720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Calibration and scoring demo</a:t>
              </a:r>
            </a:p>
          </p:txBody>
        </p:sp>
      </p:grpSp>
      <p:pic>
        <p:nvPicPr>
          <p:cNvPr id="492" name="image6.png" descr="image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01039" y="1397081"/>
            <a:ext cx="5843211" cy="40638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